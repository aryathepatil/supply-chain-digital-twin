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b="1" dirty="0"/>
              <a:t>Supply Chain Digital Twin using 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Group Members: </a:t>
            </a:r>
            <a:endParaRPr lang="en-US" sz="2400" dirty="0"/>
          </a:p>
          <a:p>
            <a:pPr lvl="1"/>
            <a:r>
              <a:rPr sz="2000" dirty="0"/>
              <a:t>Ayaan Khan </a:t>
            </a:r>
            <a:endParaRPr lang="en-US" sz="2000" dirty="0"/>
          </a:p>
          <a:p>
            <a:pPr lvl="1"/>
            <a:r>
              <a:rPr sz="2000" dirty="0"/>
              <a:t>Arya Patil</a:t>
            </a:r>
            <a:endParaRPr lang="en-US" sz="2000" dirty="0"/>
          </a:p>
          <a:p>
            <a:pPr lvl="1"/>
            <a:r>
              <a:rPr sz="2000" dirty="0"/>
              <a:t>Nihaal Badam </a:t>
            </a:r>
            <a:endParaRPr lang="en-US" sz="2000" dirty="0"/>
          </a:p>
          <a:p>
            <a:pPr lvl="1"/>
            <a:r>
              <a:rPr sz="2000" dirty="0"/>
              <a:t>Swastik Ankulge</a:t>
            </a:r>
          </a:p>
          <a:p>
            <a:r>
              <a:rPr sz="2400" dirty="0"/>
              <a:t>Guidance</a:t>
            </a:r>
            <a:r>
              <a:rPr lang="en-US" sz="2400" dirty="0"/>
              <a:t> </a:t>
            </a:r>
            <a:r>
              <a:rPr sz="2400" dirty="0"/>
              <a:t>: Dr. Ravindra B. Keskar</a:t>
            </a:r>
          </a:p>
          <a:p>
            <a:r>
              <a:rPr sz="2400" dirty="0"/>
              <a:t>Visvesvaraya National Institute of Technology, Nagpur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853220-1958-37A1-76CC-19C05C4C0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5800"/>
            <a:ext cx="914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Urban </a:t>
            </a:r>
            <a:r>
              <a:rPr sz="4000" dirty="0"/>
              <a:t>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Urban supply chains operate in highly stochastic environments.</a:t>
            </a:r>
          </a:p>
          <a:p>
            <a:r>
              <a:rPr sz="2800" dirty="0"/>
              <a:t>Factors like weather, rush hours, and road accidents constantly change travel times.</a:t>
            </a:r>
          </a:p>
          <a:p>
            <a:r>
              <a:rPr sz="2800" dirty="0"/>
              <a:t>Traditional static routing models (e.g., standard A*) fail to adapt to these real-time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Freshness vs Fuel</a:t>
            </a:r>
            <a:r>
              <a:rPr lang="en-US" sz="4000" dirty="0"/>
              <a:t> Cost Optimization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Fast deliveries preserve the Remaining Shelf Life (RSL) of perishable cargo.</a:t>
            </a:r>
          </a:p>
          <a:p>
            <a:r>
              <a:rPr sz="2800" dirty="0"/>
              <a:t>However, fast routes often require using congested highways, which drastically increases fuel consumption.</a:t>
            </a:r>
          </a:p>
          <a:p>
            <a:r>
              <a:rPr sz="2800" dirty="0"/>
              <a:t>Standard algorithms struggle to balance these conflicting multi-objective goals.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451487"/>
            <a:ext cx="4719484" cy="3955026"/>
          </a:xfrm>
        </p:spPr>
        <p:txBody>
          <a:bodyPr>
            <a:normAutofit fontScale="92500" lnSpcReduction="20000"/>
          </a:bodyPr>
          <a:lstStyle/>
          <a:p>
            <a:r>
              <a:rPr sz="2800" dirty="0"/>
              <a:t>Develop a discrete-event Simulation Engine (Digital Twin) of Nagpur city.</a:t>
            </a:r>
          </a:p>
          <a:p>
            <a:r>
              <a:rPr sz="2800" dirty="0"/>
              <a:t>Implement a Macro-Routing Agent using Proximal Policy Optimization (PPO).</a:t>
            </a:r>
          </a:p>
          <a:p>
            <a:r>
              <a:rPr sz="2800" dirty="0"/>
              <a:t>Implement Micro-Rerouting Edge Agents using Q-Learning.</a:t>
            </a:r>
          </a:p>
          <a:p>
            <a:r>
              <a:rPr sz="2800" dirty="0"/>
              <a:t>Predict real-time traffic using an online Ridge Regression model.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FCC498-2440-A80E-D645-540D0C8D9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553" y="1451487"/>
            <a:ext cx="4648447" cy="2839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Simulation Engine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A custom discrete-event engine stepping in 15-minute simulated intervals.</a:t>
            </a:r>
          </a:p>
          <a:p>
            <a:r>
              <a:rPr sz="2800" dirty="0"/>
              <a:t>Deterministic random seeding ensures fair benchmarking between algorithms.</a:t>
            </a:r>
          </a:p>
          <a:p>
            <a:r>
              <a:rPr sz="2800" dirty="0"/>
              <a:t>Continuously injects dynamic environmental events (rain, heat, accidents).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026" y="0"/>
            <a:ext cx="8229600" cy="993058"/>
          </a:xfrm>
        </p:spPr>
        <p:txBody>
          <a:bodyPr/>
          <a:lstStyle/>
          <a:p>
            <a:r>
              <a:rPr dirty="0"/>
              <a:t>The Nagpur City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1548"/>
            <a:ext cx="8229600" cy="3018505"/>
          </a:xfrm>
        </p:spPr>
        <p:txBody>
          <a:bodyPr>
            <a:normAutofit lnSpcReduction="10000"/>
          </a:bodyPr>
          <a:lstStyle/>
          <a:p>
            <a:r>
              <a:rPr dirty="0"/>
              <a:t>Road network modeled mathematically using the </a:t>
            </a:r>
            <a:r>
              <a:rPr dirty="0" err="1"/>
              <a:t>NetworkX</a:t>
            </a:r>
            <a:r>
              <a:rPr dirty="0"/>
              <a:t> library.</a:t>
            </a:r>
          </a:p>
          <a:p>
            <a:r>
              <a:rPr dirty="0"/>
              <a:t>Segmented into 4 unique geographic zones: HIGHWAY, RESIDENTIAL, OFFICE, SHOPPING.</a:t>
            </a:r>
          </a:p>
          <a:p>
            <a:r>
              <a:rPr dirty="0"/>
              <a:t>Each zone features distinct hourly and weekly traffic cyclicity.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5C1196-D686-C9A0-F863-5271B5D30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560" y="3736258"/>
            <a:ext cx="5132439" cy="31217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Actor 1: Retailer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Generate stochastic consumer demand based on geographic zone.</a:t>
            </a:r>
          </a:p>
          <a:p>
            <a:r>
              <a:rPr sz="2800" dirty="0"/>
              <a:t>Automatically trigger an `</a:t>
            </a:r>
            <a:r>
              <a:rPr sz="2800" dirty="0" err="1"/>
              <a:t>order_placed</a:t>
            </a:r>
            <a:r>
              <a:rPr sz="2800" dirty="0"/>
              <a:t>` event when local inventory drops below threshold.</a:t>
            </a:r>
          </a:p>
          <a:p>
            <a:r>
              <a:rPr sz="2800" dirty="0"/>
              <a:t>Log a permanent `stockout` penalty if inventory hits zero before replenishment.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Actor 2: The Warehouse Depot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Acts as the central supply hub for the entire city graph.</a:t>
            </a:r>
          </a:p>
          <a:p>
            <a:r>
              <a:rPr sz="2800" dirty="0"/>
              <a:t>Maintains the global queue of pending retailer orders.</a:t>
            </a:r>
          </a:p>
          <a:p>
            <a:r>
              <a:rPr sz="2800" dirty="0"/>
              <a:t>Responsible for executing the fleet allocation algorithm to dispatch idle trucks.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Actor 3: Truck Fleet </a:t>
            </a:r>
            <a:r>
              <a:rPr lang="en-IN" dirty="0"/>
              <a:t>&amp;</a:t>
            </a:r>
            <a:r>
              <a:rPr dirty="0"/>
              <a:t> State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Fleet of 10 autonomous delivery vehicles.</a:t>
            </a:r>
          </a:p>
          <a:p>
            <a:r>
              <a:rPr sz="2800" dirty="0"/>
              <a:t>Follows a strict lifecycle: </a:t>
            </a:r>
            <a:endParaRPr lang="en-US" sz="2800" dirty="0"/>
          </a:p>
          <a:p>
            <a:r>
              <a:rPr sz="2800" dirty="0"/>
              <a:t>Idle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sz="2800" dirty="0"/>
              <a:t>Loading </a:t>
            </a:r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sz="2800" dirty="0"/>
              <a:t> In-Transit</a:t>
            </a:r>
            <a:r>
              <a:rPr lang="en-US" sz="2800" dirty="0"/>
              <a:t> </a:t>
            </a:r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sz="2800" dirty="0"/>
              <a:t> Delivering </a:t>
            </a:r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sz="2800" dirty="0"/>
              <a:t> Returning.</a:t>
            </a:r>
          </a:p>
          <a:p>
            <a:r>
              <a:rPr sz="2800" dirty="0"/>
              <a:t>Physically tracks fuel consumption over distance and RSL decay over 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AFF8AC-274A-A118-A9A7-2003B60E1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120" y="4574546"/>
            <a:ext cx="6558754" cy="2133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Three</a:t>
            </a:r>
            <a:r>
              <a:rPr lang="en-US" sz="4000" dirty="0"/>
              <a:t> Layered</a:t>
            </a:r>
            <a:r>
              <a:rPr sz="4000" dirty="0"/>
              <a:t> AI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17690" cy="4525963"/>
          </a:xfrm>
        </p:spPr>
        <p:txBody>
          <a:bodyPr>
            <a:normAutofit/>
          </a:bodyPr>
          <a:lstStyle/>
          <a:p>
            <a:r>
              <a:rPr sz="2800" dirty="0"/>
              <a:t>Replaced the baseline A* heuristic with a 3-tier intelligence stack.</a:t>
            </a:r>
          </a:p>
          <a:p>
            <a:r>
              <a:rPr lang="en-US" sz="2800" b="1" dirty="0"/>
              <a:t>Level </a:t>
            </a:r>
            <a:r>
              <a:rPr sz="2800" b="1" dirty="0"/>
              <a:t>1:</a:t>
            </a:r>
            <a:r>
              <a:rPr sz="2800" dirty="0"/>
              <a:t> Central PPO Brain for macro-strategy.</a:t>
            </a:r>
          </a:p>
          <a:p>
            <a:r>
              <a:rPr lang="en-US" sz="2800" b="1" dirty="0"/>
              <a:t>Level</a:t>
            </a:r>
            <a:r>
              <a:rPr sz="2800" b="1" dirty="0"/>
              <a:t> 2: </a:t>
            </a:r>
            <a:r>
              <a:rPr sz="2800" dirty="0"/>
              <a:t>Edge Q-Agents for micro-tactics.</a:t>
            </a:r>
          </a:p>
          <a:p>
            <a:r>
              <a:rPr lang="en-US" sz="2800" b="1" dirty="0"/>
              <a:t>Level</a:t>
            </a:r>
            <a:r>
              <a:rPr sz="2800" b="1" dirty="0"/>
              <a:t> 3: </a:t>
            </a:r>
            <a:r>
              <a:rPr sz="2800" dirty="0"/>
              <a:t>ETA Forecaster for predictive intelligence.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5BE596-5E85-07BF-BA51-0D4835BCA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433" y="1632718"/>
            <a:ext cx="3952567" cy="35925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370439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Level</a:t>
            </a:r>
            <a:r>
              <a:rPr sz="4000" dirty="0"/>
              <a:t> 1: Central PPO 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37087" cy="4525963"/>
          </a:xfrm>
        </p:spPr>
        <p:txBody>
          <a:bodyPr>
            <a:normAutofit lnSpcReduction="10000"/>
          </a:bodyPr>
          <a:lstStyle/>
          <a:p>
            <a:r>
              <a:rPr sz="2800" dirty="0"/>
              <a:t>Implemented using the Stable-Baselines3 library.</a:t>
            </a:r>
          </a:p>
          <a:p>
            <a:r>
              <a:rPr sz="2800" dirty="0"/>
              <a:t>Multi-agent environment flattened into a single-agent Gymnasium wrapper via parameter sharing.</a:t>
            </a:r>
          </a:p>
          <a:p>
            <a:r>
              <a:rPr sz="2800" dirty="0"/>
              <a:t>Neural Network Policy: 25-node</a:t>
            </a:r>
            <a:r>
              <a:rPr lang="en-US" sz="2800" dirty="0"/>
              <a:t>s </a:t>
            </a:r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sz="2800" dirty="0"/>
              <a:t> two 64-node hidden layers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sz="2800" dirty="0"/>
              <a:t>3-node output.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650278-8E1E-1C39-F952-D955FB0BD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39" y="502075"/>
            <a:ext cx="4237087" cy="60812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PPO State and Action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0816"/>
            <a:ext cx="8229600" cy="3876368"/>
          </a:xfrm>
        </p:spPr>
        <p:txBody>
          <a:bodyPr>
            <a:normAutofit/>
          </a:bodyPr>
          <a:lstStyle/>
          <a:p>
            <a:r>
              <a:rPr sz="2800" b="1" dirty="0"/>
              <a:t>25-Dimension State: </a:t>
            </a:r>
            <a:r>
              <a:rPr sz="2800" dirty="0"/>
              <a:t>Observes truck fuel, cargo RSL, weather severity, and fleet averages.</a:t>
            </a:r>
          </a:p>
          <a:p>
            <a:r>
              <a:rPr sz="2800" b="1" dirty="0"/>
              <a:t>3-Discrete Actions</a:t>
            </a:r>
            <a:r>
              <a:rPr lang="en-US" sz="2800" b="1" dirty="0"/>
              <a:t>:</a:t>
            </a:r>
            <a:r>
              <a:rPr sz="2800" b="1" dirty="0"/>
              <a:t> </a:t>
            </a:r>
            <a:r>
              <a:rPr sz="2800" dirty="0"/>
              <a:t>Speed-Priority, Fuel-Priority, Balanced.</a:t>
            </a:r>
          </a:p>
          <a:p>
            <a:r>
              <a:rPr sz="2800" dirty="0"/>
              <a:t>Operates sequentially at every dispatch decision point.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26F2D0-0718-F15B-0EDF-174D7B7CA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147" y="4018689"/>
            <a:ext cx="5213706" cy="28433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The Reward Normalization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39437"/>
            <a:ext cx="8229600" cy="4525963"/>
          </a:xfrm>
        </p:spPr>
        <p:txBody>
          <a:bodyPr/>
          <a:lstStyle/>
          <a:p>
            <a:r>
              <a:rPr lang="en-IN" dirty="0"/>
              <a:t>Fuel physically drops ~15% per trip, while RSL drops only ~2%.</a:t>
            </a:r>
          </a:p>
          <a:p>
            <a:r>
              <a:rPr dirty="0"/>
              <a:t>We established a strict </a:t>
            </a:r>
            <a:r>
              <a:rPr b="1" dirty="0"/>
              <a:t>5:1 penalty ratio</a:t>
            </a:r>
            <a:r>
              <a:rPr dirty="0"/>
              <a:t> (W</a:t>
            </a:r>
            <a:r>
              <a:rPr lang="en-US" dirty="0"/>
              <a:t>(RSL)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50.0, </a:t>
            </a:r>
            <a:r>
              <a:rPr lang="en-US" dirty="0"/>
              <a:t>W(</a:t>
            </a:r>
            <a:r>
              <a:rPr dirty="0"/>
              <a:t>fuel</a:t>
            </a:r>
            <a:r>
              <a:rPr lang="en-US" dirty="0"/>
              <a:t>) </a:t>
            </a:r>
            <a:r>
              <a:rPr dirty="0"/>
              <a:t>=</a:t>
            </a:r>
            <a:r>
              <a:rPr lang="en-US" dirty="0"/>
              <a:t> </a:t>
            </a:r>
            <a:r>
              <a:rPr dirty="0"/>
              <a:t>10.0).</a:t>
            </a:r>
          </a:p>
          <a:p>
            <a:r>
              <a:rPr dirty="0"/>
              <a:t>This forces the PPO agent to treat cargo freshness and fuel as equally critical.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501A38-228A-BD91-9E39-F0799BBD6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706" y="1486464"/>
            <a:ext cx="5820587" cy="7335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Level</a:t>
            </a:r>
            <a:r>
              <a:rPr sz="4000" dirty="0"/>
              <a:t> 2: Edge Q-Learning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Embedded individually on all 10 trucks.</a:t>
            </a:r>
          </a:p>
          <a:p>
            <a:r>
              <a:rPr sz="2800" dirty="0"/>
              <a:t>Triggered strictly by stochastic road accidents blocking the active route.</a:t>
            </a:r>
          </a:p>
          <a:p>
            <a:r>
              <a:rPr sz="2800" dirty="0"/>
              <a:t>Utilizes a 9-state tabular Q-learning matrix with Epsilon-Greedy exploration.</a:t>
            </a:r>
          </a:p>
          <a:p>
            <a:r>
              <a:rPr sz="2800" dirty="0"/>
              <a:t>Overrides the Central Brain to execute immediate evasive maneuvers.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Level</a:t>
            </a:r>
            <a:r>
              <a:rPr sz="4000" dirty="0"/>
              <a:t> 3: ETA Forecaster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439265" cy="3502742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Implemented via Scikit-</a:t>
            </a:r>
            <a:r>
              <a:rPr dirty="0" err="1"/>
              <a:t>learn's</a:t>
            </a:r>
            <a:r>
              <a:rPr dirty="0"/>
              <a:t> `</a:t>
            </a:r>
            <a:r>
              <a:rPr dirty="0" err="1"/>
              <a:t>SGDRegressor</a:t>
            </a:r>
            <a:r>
              <a:rPr dirty="0"/>
              <a:t>` (Ridge Regression).</a:t>
            </a:r>
          </a:p>
          <a:p>
            <a:r>
              <a:rPr dirty="0"/>
              <a:t>Replaces static average-based heuristics with dynamic edge-cost predictions.</a:t>
            </a:r>
          </a:p>
          <a:p>
            <a:r>
              <a:rPr dirty="0"/>
              <a:t>Trains </a:t>
            </a:r>
            <a:r>
              <a:rPr b="1" dirty="0"/>
              <a:t>online</a:t>
            </a:r>
            <a:r>
              <a:rPr dirty="0"/>
              <a:t> using `</a:t>
            </a:r>
            <a:r>
              <a:rPr dirty="0" err="1"/>
              <a:t>partial_fit</a:t>
            </a:r>
            <a:r>
              <a:rPr dirty="0"/>
              <a:t>()` as trucks successfully traverse the city.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17F907-7832-A231-B2CC-D5C3AB538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465" y="1531374"/>
            <a:ext cx="4110362" cy="37952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4567084" cy="1143000"/>
          </a:xfrm>
        </p:spPr>
        <p:txBody>
          <a:bodyPr>
            <a:normAutofit fontScale="90000"/>
          </a:bodyPr>
          <a:lstStyle/>
          <a:p>
            <a:r>
              <a:rPr sz="4000" dirty="0"/>
              <a:t>ETA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04735" cy="4525963"/>
          </a:xfrm>
        </p:spPr>
        <p:txBody>
          <a:bodyPr>
            <a:normAutofit lnSpcReduction="10000"/>
          </a:bodyPr>
          <a:lstStyle/>
          <a:p>
            <a:r>
              <a:rPr sz="2800" dirty="0"/>
              <a:t>Utilizes a highly optimized 8-Dimensional feature vector.</a:t>
            </a:r>
          </a:p>
          <a:p>
            <a:r>
              <a:rPr sz="2800" dirty="0"/>
              <a:t>Encodes time-of-day and day-of-week using Sine/Cosine transformations.</a:t>
            </a:r>
          </a:p>
          <a:p>
            <a:r>
              <a:rPr sz="2800" b="1" dirty="0"/>
              <a:t>Why? </a:t>
            </a:r>
            <a:r>
              <a:rPr sz="2800" dirty="0"/>
              <a:t>Prevents the mathematical discontinuity of Sunday (Day 7) appearing far from Monday (Day 1).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7A7E68-5F13-3DF0-B056-D17760D5D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34" y="274638"/>
            <a:ext cx="3982065" cy="64007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Telemetry &amp; Data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Simulation writes to permanent CSV artifacts (`events_sim.csv` and `telemetry_sim.csv`).</a:t>
            </a:r>
          </a:p>
          <a:p>
            <a:r>
              <a:rPr sz="2800" dirty="0"/>
              <a:t>Captured over 2.4 million truck states across the 365-day benchmark.</a:t>
            </a:r>
          </a:p>
          <a:p>
            <a:r>
              <a:rPr sz="2800" dirty="0"/>
              <a:t>Telemetry files serve as the ground truth for all performance comparisons.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PPO Training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233" y="1555290"/>
            <a:ext cx="2934928" cy="452596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Agent trained offline for 50,000 timesteps.</a:t>
            </a:r>
          </a:p>
          <a:p>
            <a:r>
              <a:rPr dirty="0"/>
              <a:t>Hyperparameters: Learning Rate 3e-4, Batch Size 64.</a:t>
            </a:r>
          </a:p>
          <a:p>
            <a:r>
              <a:rPr dirty="0"/>
              <a:t>Set Entropy Coefficient to 0.01 to force exploration of RSL-Priority paths.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D17B9-0EB2-16C7-EADA-7E27CD0FB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148" y="1555290"/>
            <a:ext cx="5840361" cy="46516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Preventing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450826" cy="2372031"/>
          </a:xfrm>
        </p:spPr>
        <p:txBody>
          <a:bodyPr>
            <a:normAutofit fontScale="92500" lnSpcReduction="20000"/>
          </a:bodyPr>
          <a:lstStyle/>
          <a:p>
            <a:r>
              <a:rPr sz="2800" dirty="0"/>
              <a:t>PPO models are highly susceptible to overfitting to training seeds.</a:t>
            </a:r>
          </a:p>
          <a:p>
            <a:r>
              <a:rPr sz="2800" dirty="0"/>
              <a:t>Integrated an `</a:t>
            </a:r>
            <a:r>
              <a:rPr sz="2800" dirty="0" err="1"/>
              <a:t>EvalCallback</a:t>
            </a:r>
            <a:r>
              <a:rPr sz="2800" dirty="0"/>
              <a:t>` to evaluate the model on a held-out environment every 5,000 steps.</a:t>
            </a:r>
          </a:p>
          <a:p>
            <a:r>
              <a:rPr sz="2800" dirty="0"/>
              <a:t>Saved and deployed the absolute best policy (`best_model.zip`), not just the final step.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49D86-3E11-2E99-EEE4-88BE46252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93" y="3972232"/>
            <a:ext cx="5768840" cy="24919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9324"/>
            <a:ext cx="8229600" cy="1143000"/>
          </a:xfrm>
        </p:spPr>
        <p:txBody>
          <a:bodyPr>
            <a:noAutofit/>
          </a:bodyPr>
          <a:lstStyle/>
          <a:p>
            <a:r>
              <a:rPr sz="4000" dirty="0"/>
              <a:t>Route Thrashing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676"/>
            <a:ext cx="8229600" cy="2711107"/>
          </a:xfrm>
        </p:spPr>
        <p:txBody>
          <a:bodyPr>
            <a:normAutofit fontScale="92500" lnSpcReduction="20000"/>
          </a:bodyPr>
          <a:lstStyle/>
          <a:p>
            <a:r>
              <a:rPr sz="2800" b="1" dirty="0"/>
              <a:t>The Bug: </a:t>
            </a:r>
            <a:r>
              <a:rPr sz="2800" dirty="0"/>
              <a:t>Trucks recalculated routes every 15 minutes upon receiving a PPO signal, paralyzing the fleet (49% delivery rate).</a:t>
            </a:r>
          </a:p>
          <a:p>
            <a:r>
              <a:rPr sz="2800" b="1" dirty="0"/>
              <a:t>The Solution:</a:t>
            </a:r>
            <a:r>
              <a:rPr sz="2800" dirty="0"/>
              <a:t> Implemented an Anti-Thrashing GPS Lock state machine.</a:t>
            </a:r>
          </a:p>
          <a:p>
            <a:r>
              <a:rPr sz="2800" dirty="0"/>
              <a:t>Trucks now ignore redundant signals, immediately restoring service levels to 99.9%.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84392-B7F8-40C3-C5AC-32F3753BE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226" y="3673601"/>
            <a:ext cx="5653548" cy="30832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365-Day Comparative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Goal: Prove RL outperforms static algorithms in long-term scenarios.</a:t>
            </a:r>
          </a:p>
          <a:p>
            <a:r>
              <a:rPr sz="2800" dirty="0"/>
              <a:t>Run 1: 365-Day Baseline Simulation (Standard A* Heuristics).</a:t>
            </a:r>
          </a:p>
          <a:p>
            <a:r>
              <a:rPr sz="2800" dirty="0"/>
              <a:t>Run 2: 365-Day RL-Enabled Simulation (PPO + Edge Q-Agent + Forecaster).</a:t>
            </a:r>
          </a:p>
          <a:p>
            <a:r>
              <a:rPr sz="2800" dirty="0"/>
              <a:t>Both runs experienced identical weather, accidents, and retailer demand.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PPO Training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496961"/>
          </a:xfrm>
        </p:spPr>
        <p:txBody>
          <a:bodyPr>
            <a:normAutofit fontScale="70000" lnSpcReduction="20000"/>
          </a:bodyPr>
          <a:lstStyle/>
          <a:p>
            <a:r>
              <a:rPr sz="2800" dirty="0"/>
              <a:t>The learning curve displays the mean episode reward over 50,000 steps.</a:t>
            </a:r>
          </a:p>
          <a:p>
            <a:r>
              <a:rPr sz="2800" dirty="0"/>
              <a:t>Reward starts highly negative (random exploration) and climbs steeply.</a:t>
            </a:r>
          </a:p>
          <a:p>
            <a:r>
              <a:rPr sz="2800" dirty="0"/>
              <a:t>The model successfully converged and plateaued around step 35,000.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9A05CC-18A3-9BB6-5D9E-33F2A7D02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055" y="2897812"/>
            <a:ext cx="6375889" cy="35597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154"/>
            <a:ext cx="8229600" cy="1143000"/>
          </a:xfrm>
        </p:spPr>
        <p:txBody>
          <a:bodyPr/>
          <a:lstStyle/>
          <a:p>
            <a:r>
              <a:rPr dirty="0"/>
              <a:t>Result: Service Level &amp; Throughput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6852"/>
            <a:ext cx="8229600" cy="2072149"/>
          </a:xfrm>
        </p:spPr>
        <p:txBody>
          <a:bodyPr>
            <a:normAutofit fontScale="92500"/>
          </a:bodyPr>
          <a:lstStyle/>
          <a:p>
            <a:r>
              <a:rPr sz="2800" b="1" dirty="0"/>
              <a:t>Baseline Router: </a:t>
            </a:r>
            <a:r>
              <a:rPr sz="2800" dirty="0"/>
              <a:t>70,898 retailer stockout events.</a:t>
            </a:r>
          </a:p>
          <a:p>
            <a:r>
              <a:rPr sz="2800" b="1" dirty="0"/>
              <a:t>RL Architecture: </a:t>
            </a:r>
            <a:r>
              <a:rPr sz="2800" dirty="0"/>
              <a:t>33,401 retailer stockout events.</a:t>
            </a:r>
          </a:p>
          <a:p>
            <a:r>
              <a:rPr sz="2800" dirty="0"/>
              <a:t>Achieved a massive </a:t>
            </a:r>
            <a:r>
              <a:rPr sz="2800" b="1" dirty="0"/>
              <a:t>52.9% reduction in stockouts</a:t>
            </a:r>
            <a:r>
              <a:rPr lang="en-IN" sz="2800" dirty="0"/>
              <a:t>.</a:t>
            </a:r>
            <a:endParaRPr lang="en-US" sz="2800" dirty="0"/>
          </a:p>
          <a:p>
            <a:r>
              <a:rPr lang="en-US" sz="2800" dirty="0"/>
              <a:t>Successfully delivered an additional +474,708 kg of cargo.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680994-B8E5-DB75-BC11-4F91F595A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87" y="3429000"/>
            <a:ext cx="7137826" cy="339519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Result: RSL &amp; Fuel Parity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5348"/>
            <a:ext cx="8229600" cy="4525963"/>
          </a:xfrm>
        </p:spPr>
        <p:txBody>
          <a:bodyPr>
            <a:normAutofit/>
          </a:bodyPr>
          <a:lstStyle/>
          <a:p>
            <a:r>
              <a:rPr sz="2000" dirty="0"/>
              <a:t>Proved the 5:1 reward math worked flawlessly.</a:t>
            </a:r>
          </a:p>
          <a:p>
            <a:r>
              <a:rPr sz="2000" dirty="0"/>
              <a:t>Average fleet fuel remained perfectly identical to the baseline (78.7%).</a:t>
            </a:r>
          </a:p>
          <a:p>
            <a:r>
              <a:rPr sz="2000" dirty="0"/>
              <a:t>Average cargo freshness at delivery remained identical (99.7%).</a:t>
            </a:r>
          </a:p>
          <a:p>
            <a:r>
              <a:rPr sz="2000" dirty="0"/>
              <a:t>The AI increased throughput </a:t>
            </a:r>
            <a:r>
              <a:rPr sz="2000" b="1" dirty="0"/>
              <a:t>without</a:t>
            </a:r>
            <a:r>
              <a:rPr sz="2000" dirty="0"/>
              <a:t> sacrificing efficiency or quality.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CC0DC-B19A-011A-EAF8-D5584D7F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60" y="3017497"/>
            <a:ext cx="6388080" cy="35658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Result: Emergent Safety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The RL Architecture recorded 135 fewer road accidents over the year.</a:t>
            </a:r>
          </a:p>
          <a:p>
            <a:r>
              <a:rPr sz="2800" dirty="0"/>
              <a:t>This was an unprogrammed, emergent behavior.</a:t>
            </a:r>
          </a:p>
          <a:p>
            <a:r>
              <a:rPr sz="2800" dirty="0"/>
              <a:t>The ETA Forecaster implicitly learned which zones had high accident probabilities during specific hours, naturally routing trucks away from danger.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Achieving Pareto Optimality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A system achieves Pareto improvement if it betters one objective without worsening another.</a:t>
            </a:r>
          </a:p>
          <a:p>
            <a:r>
              <a:rPr sz="2800" dirty="0"/>
              <a:t>Our RL system strictly improved 6 metrics (throughput, service level, stockouts, accidents) while holding Fuel and RSL constant.</a:t>
            </a:r>
          </a:p>
          <a:p>
            <a:r>
              <a:rPr sz="2800" dirty="0"/>
              <a:t>Conclusion: The multi-agent RL framework is strictly superior to static heuristics.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Scale the environment to multi-depot and multi-city configurations.</a:t>
            </a:r>
          </a:p>
          <a:p>
            <a:r>
              <a:rPr sz="2800" dirty="0"/>
              <a:t>Integrate real-time physical IoT sensors (GPS, refrigerated container thermometers) into the Digital Twin.</a:t>
            </a:r>
          </a:p>
          <a:p>
            <a:r>
              <a:rPr sz="2800" dirty="0"/>
              <a:t>Deploy the trained Central PPO Brain to embedded physical edge devices.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Schulman, J. et al., "Proximal Policy Optimization Algorithms," 2017.</a:t>
            </a:r>
          </a:p>
          <a:p>
            <a:r>
              <a:rPr dirty="0" err="1"/>
              <a:t>Mnih</a:t>
            </a:r>
            <a:r>
              <a:rPr dirty="0"/>
              <a:t>, V. et al., "Human-level control through deep reinforcement learning," </a:t>
            </a:r>
            <a:r>
              <a:rPr b="1" dirty="0"/>
              <a:t>Nature</a:t>
            </a:r>
            <a:r>
              <a:rPr dirty="0"/>
              <a:t>, 2015.</a:t>
            </a:r>
          </a:p>
          <a:p>
            <a:r>
              <a:rPr dirty="0"/>
              <a:t>Sutton, R. S. and Barto, A. G., </a:t>
            </a:r>
            <a:r>
              <a:rPr b="1" dirty="0"/>
              <a:t>Reinforcement Learning: An Introduction</a:t>
            </a:r>
            <a:r>
              <a:rPr dirty="0"/>
              <a:t>, 2nd ed., MIT Press, 2018.</a:t>
            </a:r>
          </a:p>
          <a:p>
            <a:r>
              <a:rPr dirty="0"/>
              <a:t>Raffin, A. et al., "Stable-Baselines3: Reliable Reinforcement Learning Implementations," </a:t>
            </a:r>
            <a:r>
              <a:rPr b="1" dirty="0"/>
              <a:t>JMLR</a:t>
            </a:r>
            <a:r>
              <a:rPr dirty="0"/>
              <a:t>, 2021.</a:t>
            </a:r>
          </a:p>
          <a:p>
            <a:r>
              <a:rPr dirty="0"/>
              <a:t>Hart, P. E. et al., "A Formal Basis for the Heuristic Determination of Minimum Cost Paths," </a:t>
            </a:r>
            <a:r>
              <a:rPr b="1" dirty="0"/>
              <a:t>IEEE Transactions</a:t>
            </a:r>
            <a:r>
              <a:rPr dirty="0"/>
              <a:t>, 1968.</a:t>
            </a:r>
          </a:p>
          <a:p>
            <a:r>
              <a:rPr dirty="0"/>
              <a:t>Hoerl, A. E. and Kennard, R. W., "Ridge Regression: Biased Estimation for Nonorthogonal Problems," </a:t>
            </a:r>
            <a:r>
              <a:rPr b="1" dirty="0" err="1"/>
              <a:t>Technometrics</a:t>
            </a:r>
            <a:r>
              <a:rPr dirty="0"/>
              <a:t>, 1970.</a:t>
            </a:r>
          </a:p>
          <a:p>
            <a:r>
              <a:rPr dirty="0" err="1"/>
              <a:t>Giannoccaro</a:t>
            </a:r>
            <a:r>
              <a:rPr dirty="0"/>
              <a:t>, I. and </a:t>
            </a:r>
            <a:r>
              <a:rPr dirty="0" err="1"/>
              <a:t>Pontrandolfo</a:t>
            </a:r>
            <a:r>
              <a:rPr dirty="0"/>
              <a:t>, P., "Inventory management in supply chains: A reinforcement learning approach," </a:t>
            </a:r>
            <a:r>
              <a:rPr b="1" dirty="0"/>
              <a:t>Int. J. of Production Economics</a:t>
            </a:r>
            <a:r>
              <a:rPr lang="en-US" b="1" dirty="0"/>
              <a:t>,</a:t>
            </a:r>
            <a:r>
              <a:rPr dirty="0"/>
              <a:t> 2002.</a:t>
            </a:r>
          </a:p>
          <a:p>
            <a:r>
              <a:rPr dirty="0"/>
              <a:t>Towers, M. et al., "Gymnasium: A Standard Interface for Reinforcement Learning Environments,"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1350</Words>
  <Application>Microsoft Office PowerPoint</Application>
  <PresentationFormat>On-screen Show (4:3)</PresentationFormat>
  <Paragraphs>128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Office Theme</vt:lpstr>
      <vt:lpstr>Supply Chain Digital Twin using Reinforcement Learning</vt:lpstr>
      <vt:lpstr>The Urban Logistics</vt:lpstr>
      <vt:lpstr>Freshness vs Fuel Cost Optimization</vt:lpstr>
      <vt:lpstr>Project Objectives</vt:lpstr>
      <vt:lpstr>Simulation Engine Overview</vt:lpstr>
      <vt:lpstr>The Nagpur City Graph</vt:lpstr>
      <vt:lpstr>Actor 1: Retailer Nodes</vt:lpstr>
      <vt:lpstr>Actor 2: The Warehouse Depot</vt:lpstr>
      <vt:lpstr>Actor 3: Truck Fleet &amp; State Machine</vt:lpstr>
      <vt:lpstr>Three Layered AI Architecture</vt:lpstr>
      <vt:lpstr>Level 1: Central PPO Brain</vt:lpstr>
      <vt:lpstr>PPO State and Action Space</vt:lpstr>
      <vt:lpstr>The Reward Normalization Framework</vt:lpstr>
      <vt:lpstr>Level 2: Edge Q-Learning Agents</vt:lpstr>
      <vt:lpstr>Level 3: ETA Forecaster Design</vt:lpstr>
      <vt:lpstr>ETA Feature Engineering</vt:lpstr>
      <vt:lpstr>Telemetry &amp; Data Logging</vt:lpstr>
      <vt:lpstr>PPO Training Pipeline</vt:lpstr>
      <vt:lpstr>Preventing Overfitting</vt:lpstr>
      <vt:lpstr>Route Thrashing</vt:lpstr>
      <vt:lpstr>365-Day Comparative Benchmark</vt:lpstr>
      <vt:lpstr>PPO Training Convergence</vt:lpstr>
      <vt:lpstr>Result: Service Level &amp; Throughput</vt:lpstr>
      <vt:lpstr>Result: RSL &amp; Fuel Parity</vt:lpstr>
      <vt:lpstr>Result: Emergent Safety Behavior</vt:lpstr>
      <vt:lpstr>Achieving Pareto Optimality</vt:lpstr>
      <vt:lpstr>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SWASTIK ANKULGE</dc:creator>
  <cp:keywords/>
  <dc:description>generated using python-pptx</dc:description>
  <cp:lastModifiedBy>SWASTIK ANKULGE</cp:lastModifiedBy>
  <cp:revision>3</cp:revision>
  <dcterms:created xsi:type="dcterms:W3CDTF">2013-01-27T09:14:16Z</dcterms:created>
  <dcterms:modified xsi:type="dcterms:W3CDTF">2026-05-06T16:46:51Z</dcterms:modified>
  <cp:category/>
</cp:coreProperties>
</file>