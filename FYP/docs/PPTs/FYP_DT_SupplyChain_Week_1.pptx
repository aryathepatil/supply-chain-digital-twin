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803cc9d328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803cc9d328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803cc9d328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803cc9d328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803cc9d328_1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803cc9d328_1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803cc9d328_1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803cc9d328_1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e2b4e65cb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9e2b4e65cb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9e2b4e65cb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9e2b4e65cb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9e2b4e65cb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9e2b4e65cb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9e2b4e65cb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9e2b4e65cb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9e2b4e65cb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9e2b4e65cb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e2b4e65cb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9e2b4e65cb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9e2b4e65cb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9e2b4e65cb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803cc9d328_1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803cc9d328_1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803cc9d328_1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803cc9d328_1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803cc9d328_1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803cc9d328_1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20124D"/>
                </a:solidFill>
                <a:latin typeface="Cambria"/>
                <a:ea typeface="Cambria"/>
                <a:cs typeface="Cambria"/>
                <a:sym typeface="Cambria"/>
              </a:rPr>
              <a:t>Digital Twin</a:t>
            </a:r>
            <a:r>
              <a:rPr lang="en" sz="4000">
                <a:solidFill>
                  <a:srgbClr val="20124D"/>
                </a:solidFill>
                <a:latin typeface="Cambria"/>
                <a:ea typeface="Cambria"/>
                <a:cs typeface="Cambria"/>
                <a:sym typeface="Cambria"/>
              </a:rPr>
              <a:t> for </a:t>
            </a:r>
            <a:r>
              <a:rPr lang="en" sz="4000">
                <a:solidFill>
                  <a:srgbClr val="20124D"/>
                </a:solidFill>
                <a:latin typeface="Cambria"/>
                <a:ea typeface="Cambria"/>
                <a:cs typeface="Cambria"/>
                <a:sym typeface="Cambria"/>
              </a:rPr>
              <a:t>Supply Chain of Oranges</a:t>
            </a:r>
            <a:endParaRPr sz="4000">
              <a:solidFill>
                <a:srgbClr val="20124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9052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1620">
                <a:latin typeface="Cambria"/>
                <a:ea typeface="Cambria"/>
                <a:cs typeface="Cambria"/>
                <a:sym typeface="Cambria"/>
              </a:rPr>
              <a:t>Ayaan Khan</a:t>
            </a:r>
            <a:r>
              <a:rPr lang="en" sz="1620"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" sz="1620">
                <a:latin typeface="Cambria"/>
                <a:ea typeface="Cambria"/>
                <a:cs typeface="Cambria"/>
                <a:sym typeface="Cambria"/>
              </a:rPr>
              <a:t>BT22CSE001</a:t>
            </a:r>
            <a:endParaRPr sz="162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1620">
                <a:latin typeface="Cambria"/>
                <a:ea typeface="Cambria"/>
                <a:cs typeface="Cambria"/>
                <a:sym typeface="Cambria"/>
              </a:rPr>
              <a:t>Arya Patil BT22CSE003</a:t>
            </a:r>
            <a:endParaRPr sz="162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1620">
                <a:latin typeface="Cambria"/>
                <a:ea typeface="Cambria"/>
                <a:cs typeface="Cambria"/>
                <a:sym typeface="Cambria"/>
              </a:rPr>
              <a:t>Nihaal Badam BT22CSE004</a:t>
            </a:r>
            <a:endParaRPr sz="162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1620">
                <a:latin typeface="Cambria"/>
                <a:ea typeface="Cambria"/>
                <a:cs typeface="Cambria"/>
                <a:sym typeface="Cambria"/>
              </a:rPr>
              <a:t>Swastik Ankulge BT22CSE013</a:t>
            </a:r>
            <a:endParaRPr sz="162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425" y="98350"/>
            <a:ext cx="1547725" cy="121197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311700" y="4236150"/>
            <a:ext cx="547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Under the guidance of </a:t>
            </a:r>
            <a:r>
              <a:rPr b="1" lang="en" sz="180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Prof. R. B. Keskar</a:t>
            </a:r>
            <a:endParaRPr b="1" sz="1800">
              <a:solidFill>
                <a:schemeClr val="dk2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mbria"/>
                <a:ea typeface="Cambria"/>
                <a:cs typeface="Cambria"/>
                <a:sym typeface="Cambria"/>
              </a:rPr>
              <a:t>What is a Digital Twin?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• A dynamic virtual representation of a physical object or system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• Uses real-time data + simulation + machine learning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152400" rtl="0" algn="l">
              <a:lnSpc>
                <a:spcPct val="16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• Enables analysis, monitoring, and optimization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9899" y="2790525"/>
            <a:ext cx="3782101" cy="194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16800" y="2790525"/>
            <a:ext cx="3315499" cy="178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mbria"/>
                <a:ea typeface="Cambria"/>
                <a:cs typeface="Cambria"/>
                <a:sym typeface="Cambria"/>
              </a:rPr>
              <a:t>What is a Supply Chain?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 </a:t>
            </a:r>
            <a:r>
              <a:rPr b="1" lang="en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supply chain</a:t>
            </a:r>
            <a:r>
              <a:rPr lang="en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is the entire network that moves a product from the producer to the final consumer, managing the flow of goods, information, and money along the way.</a:t>
            </a:r>
            <a:endParaRPr sz="16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1600">
                <a:latin typeface="Cambria"/>
                <a:ea typeface="Cambria"/>
                <a:cs typeface="Cambria"/>
                <a:sym typeface="Cambria"/>
              </a:rPr>
            </a:br>
            <a:r>
              <a:rPr b="1" lang="en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Typical Journey:</a:t>
            </a:r>
            <a:endParaRPr b="1"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Farm → Packhouse → Distribution → Retailer → Consumer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8225" y="1895538"/>
            <a:ext cx="4194073" cy="248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154175" y="472850"/>
            <a:ext cx="8520600" cy="53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mbria"/>
                <a:ea typeface="Cambria"/>
                <a:cs typeface="Cambria"/>
                <a:sym typeface="Cambria"/>
              </a:rPr>
              <a:t>Problem Statement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233700" y="1529075"/>
            <a:ext cx="4338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Current Challenges:</a:t>
            </a:r>
            <a:endParaRPr b="1" sz="1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1. 25-30% spoilage rates in fresh produce supply chains</a:t>
            </a:r>
            <a:endParaRPr sz="1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2. Lack of real-time quality monitoring</a:t>
            </a:r>
            <a:endParaRPr sz="1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3. Inaccurate demand forecasting leading to waste</a:t>
            </a:r>
            <a:endParaRPr sz="1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4. Suboptimal routing and resource allocation</a:t>
            </a:r>
            <a:br>
              <a:rPr lang="en" sz="1575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endParaRPr sz="1575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9" name="Google Shape;79;p16"/>
          <p:cNvSpPr txBox="1"/>
          <p:nvPr/>
        </p:nvSpPr>
        <p:spPr>
          <a:xfrm>
            <a:off x="4572000" y="1529075"/>
            <a:ext cx="4240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Scope:</a:t>
            </a:r>
            <a:r>
              <a:rPr lang="en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Distribution → Retailer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Create a comprehensive digital twin that enables: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• Real-time monitoring and prediction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• Dynamic optimization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• Quality preservation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• Cost reduction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152400" rtl="0" algn="l">
              <a:lnSpc>
                <a:spcPct val="16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• Sustainability improvement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mbria"/>
                <a:ea typeface="Cambria"/>
                <a:cs typeface="Cambria"/>
                <a:sym typeface="Cambria"/>
              </a:rPr>
              <a:t>Research Literature Review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152475"/>
            <a:ext cx="8520600" cy="38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Paper 1: </a:t>
            </a:r>
            <a:r>
              <a:rPr b="1" lang="en" sz="165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Digital Twin-Based Prediction and Optimization for Dynamic Supply Chain Management</a:t>
            </a:r>
            <a:endParaRPr b="1"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Authors: Production Engineering Research Institute, LG Electronics &amp; Sungkyunkwan University</a:t>
            </a:r>
            <a:br>
              <a:rPr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Journal: </a:t>
            </a:r>
            <a:r>
              <a:rPr i="1"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MDPI Machines</a:t>
            </a:r>
            <a:r>
              <a:rPr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2025</a:t>
            </a:r>
            <a:endParaRPr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Key Findings &amp; Implementation:</a:t>
            </a:r>
            <a:endParaRPr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mbria"/>
              <a:buChar char="●"/>
            </a:pPr>
            <a:r>
              <a:rPr lang="en" sz="1200">
                <a:latin typeface="Cambria"/>
                <a:ea typeface="Cambria"/>
                <a:cs typeface="Cambria"/>
                <a:sym typeface="Cambria"/>
              </a:rPr>
              <a:t>Developed a comprehensive digital twin framework integrating real-time prediction modules with optimization algorithms for supply chain management</a:t>
            </a:r>
            <a:endParaRPr sz="1200">
              <a:latin typeface="Cambria"/>
              <a:ea typeface="Cambria"/>
              <a:cs typeface="Cambria"/>
              <a:sym typeface="Cambr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mbria"/>
              <a:buChar char="●"/>
            </a:pPr>
            <a:r>
              <a:rPr lang="en" sz="1200">
                <a:latin typeface="Cambria"/>
                <a:ea typeface="Cambria"/>
                <a:cs typeface="Cambria"/>
                <a:sym typeface="Cambria"/>
              </a:rPr>
              <a:t>Implemented metaheuristic optimization algorithms that reduce logistics costs by 18-22% through dynamic route adjustments</a:t>
            </a:r>
            <a:endParaRPr sz="1200">
              <a:latin typeface="Cambria"/>
              <a:ea typeface="Cambria"/>
              <a:cs typeface="Cambria"/>
              <a:sym typeface="Cambr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mbria"/>
              <a:buChar char="●"/>
            </a:pPr>
            <a:r>
              <a:rPr lang="en" sz="1200">
                <a:latin typeface="Cambria"/>
                <a:ea typeface="Cambria"/>
                <a:cs typeface="Cambria"/>
                <a:sym typeface="Cambria"/>
              </a:rPr>
              <a:t>Created a simulation model covering suppliers, manufacturers, and logistics operators with real-time synchronization capabilities</a:t>
            </a:r>
            <a:endParaRPr sz="1200">
              <a:latin typeface="Cambria"/>
              <a:ea typeface="Cambria"/>
              <a:cs typeface="Cambria"/>
              <a:sym typeface="Cambr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mbria"/>
              <a:buChar char="●"/>
            </a:pPr>
            <a:r>
              <a:rPr lang="en" sz="1200">
                <a:latin typeface="Cambria"/>
                <a:ea typeface="Cambria"/>
                <a:cs typeface="Cambria"/>
                <a:sym typeface="Cambria"/>
              </a:rPr>
              <a:t>Demonstrated 25% improvement in inventory management efficiency through predictive demand forecasting</a:t>
            </a:r>
            <a:endParaRPr sz="1200">
              <a:latin typeface="Cambria"/>
              <a:ea typeface="Cambria"/>
              <a:cs typeface="Cambria"/>
              <a:sym typeface="Cambr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mbria"/>
              <a:buChar char="●"/>
            </a:pPr>
            <a:r>
              <a:rPr lang="en" sz="1200">
                <a:latin typeface="Cambria"/>
                <a:ea typeface="Cambria"/>
                <a:cs typeface="Cambria"/>
                <a:sym typeface="Cambria"/>
              </a:rPr>
              <a:t>Case study in automobile manufacturing showed 30% faster response time to supply chain disruptions</a:t>
            </a:r>
            <a:endParaRPr sz="1200">
              <a:latin typeface="Cambria"/>
              <a:ea typeface="Cambria"/>
              <a:cs typeface="Cambria"/>
              <a:sym typeface="Cambr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mbria"/>
              <a:buChar char="●"/>
            </a:pPr>
            <a:r>
              <a:rPr lang="en" sz="1200">
                <a:latin typeface="Cambria"/>
                <a:ea typeface="Cambria"/>
                <a:cs typeface="Cambria"/>
                <a:sym typeface="Cambria"/>
              </a:rPr>
              <a:t>Framework enables proactive decision-making with 92% accuracy in predicting delivery delays</a:t>
            </a:r>
            <a:endParaRPr sz="12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152400" rtl="0" algn="l">
              <a:lnSpc>
                <a:spcPct val="16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mbria"/>
                <a:ea typeface="Cambria"/>
                <a:cs typeface="Cambria"/>
                <a:sym typeface="Cambria"/>
              </a:rPr>
              <a:t>Research Literature Review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311700" y="1152475"/>
            <a:ext cx="8520600" cy="38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Paper 2: </a:t>
            </a:r>
            <a:r>
              <a:rPr b="1" lang="en" sz="165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Using Digital Twin Technology to Improve Supply Chain Organization</a:t>
            </a:r>
            <a:endParaRPr b="1"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Authors: Manufacturing Systems Research Group</a:t>
            </a:r>
            <a:br>
              <a:rPr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Journal: </a:t>
            </a:r>
            <a:r>
              <a:rPr i="1"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MDPI Systems</a:t>
            </a:r>
            <a:r>
              <a:rPr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2025</a:t>
            </a:r>
            <a:endParaRPr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Key Findings &amp; Implementation:</a:t>
            </a:r>
            <a:endParaRPr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mbria"/>
              <a:buChar char="●"/>
            </a:pPr>
            <a:r>
              <a:rPr lang="en" sz="1200">
                <a:latin typeface="Cambria"/>
                <a:ea typeface="Cambria"/>
                <a:cs typeface="Cambria"/>
                <a:sym typeface="Cambria"/>
              </a:rPr>
              <a:t>Designed user-friendly digital twin platform specifically for piece-type production environments</a:t>
            </a:r>
            <a:endParaRPr sz="1200">
              <a:latin typeface="Cambria"/>
              <a:ea typeface="Cambria"/>
              <a:cs typeface="Cambria"/>
              <a:sym typeface="Cambr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mbria"/>
              <a:buChar char="●"/>
            </a:pPr>
            <a:r>
              <a:rPr lang="en" sz="1200">
                <a:latin typeface="Cambria"/>
                <a:ea typeface="Cambria"/>
                <a:cs typeface="Cambria"/>
                <a:sym typeface="Cambria"/>
              </a:rPr>
              <a:t>Implemented real-time "what-if" analysis capabilities for logistics and warehouse optimization</a:t>
            </a:r>
            <a:endParaRPr sz="1200">
              <a:latin typeface="Cambria"/>
              <a:ea typeface="Cambria"/>
              <a:cs typeface="Cambria"/>
              <a:sym typeface="Cambr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mbria"/>
              <a:buChar char="●"/>
            </a:pPr>
            <a:r>
              <a:rPr lang="en" sz="1200">
                <a:latin typeface="Cambria"/>
                <a:ea typeface="Cambria"/>
                <a:cs typeface="Cambria"/>
                <a:sym typeface="Cambria"/>
              </a:rPr>
              <a:t>Reduced component waiting time in warehouses by 35% through optimized scheduling algorithms</a:t>
            </a:r>
            <a:endParaRPr sz="1200">
              <a:latin typeface="Cambria"/>
              <a:ea typeface="Cambria"/>
              <a:cs typeface="Cambria"/>
              <a:sym typeface="Cambr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mbria"/>
              <a:buChar char="●"/>
            </a:pPr>
            <a:r>
              <a:rPr lang="en" sz="1200">
                <a:latin typeface="Cambria"/>
                <a:ea typeface="Cambria"/>
                <a:cs typeface="Cambria"/>
                <a:sym typeface="Cambria"/>
              </a:rPr>
              <a:t>Developed drag-and-drop interface for supply chain component configuration and relationship mapping</a:t>
            </a:r>
            <a:endParaRPr sz="1200">
              <a:latin typeface="Cambria"/>
              <a:ea typeface="Cambria"/>
              <a:cs typeface="Cambria"/>
              <a:sym typeface="Cambr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mbria"/>
              <a:buChar char="●"/>
            </a:pPr>
            <a:r>
              <a:rPr lang="en" sz="1200">
                <a:latin typeface="Cambria"/>
                <a:ea typeface="Cambria"/>
                <a:cs typeface="Cambria"/>
                <a:sym typeface="Cambria"/>
              </a:rPr>
              <a:t>Integrated IoT sensors for real-time tracking of production progress and material flow</a:t>
            </a:r>
            <a:endParaRPr sz="1200">
              <a:latin typeface="Cambria"/>
              <a:ea typeface="Cambria"/>
              <a:cs typeface="Cambria"/>
              <a:sym typeface="Cambr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mbria"/>
              <a:buChar char="●"/>
            </a:pPr>
            <a:r>
              <a:rPr lang="en" sz="1200">
                <a:latin typeface="Cambria"/>
                <a:ea typeface="Cambria"/>
                <a:cs typeface="Cambria"/>
                <a:sym typeface="Cambria"/>
              </a:rPr>
              <a:t>Case study showed 28% reduction in lead times and 19% improvement in resource utilization</a:t>
            </a:r>
            <a:endParaRPr i="1" sz="12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mbria"/>
                <a:ea typeface="Cambria"/>
                <a:cs typeface="Cambria"/>
                <a:sym typeface="Cambria"/>
              </a:rPr>
              <a:t>Research Literature Review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475"/>
            <a:ext cx="8520600" cy="38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Paper 3: </a:t>
            </a:r>
            <a:r>
              <a:rPr b="1" lang="en" sz="165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Unlocking the Potential of Digital Twins in Supply Chains</a:t>
            </a:r>
            <a:endParaRPr b="1"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Authors: Supply Chain Digitalization Research Consortium</a:t>
            </a:r>
            <a:br>
              <a:rPr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Journal: </a:t>
            </a:r>
            <a:r>
              <a:rPr i="1"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ScienceDirect Systematic Review</a:t>
            </a:r>
            <a:r>
              <a:rPr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2024</a:t>
            </a:r>
            <a:endParaRPr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Key Findings &amp; Implementation:</a:t>
            </a:r>
            <a:endParaRPr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mbria"/>
              <a:buChar char="●"/>
            </a:pPr>
            <a:r>
              <a:rPr lang="en" sz="1200">
                <a:latin typeface="Cambria"/>
                <a:ea typeface="Cambria"/>
                <a:cs typeface="Cambria"/>
                <a:sym typeface="Cambria"/>
              </a:rPr>
              <a:t>Analyzed 129 research papers to identify critical success factors for digital twin implementation</a:t>
            </a:r>
            <a:endParaRPr sz="1200">
              <a:latin typeface="Cambria"/>
              <a:ea typeface="Cambria"/>
              <a:cs typeface="Cambria"/>
              <a:sym typeface="Cambr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mbria"/>
              <a:buChar char="●"/>
            </a:pPr>
            <a:r>
              <a:rPr lang="en" sz="1200">
                <a:latin typeface="Cambria"/>
                <a:ea typeface="Cambria"/>
                <a:cs typeface="Cambria"/>
                <a:sym typeface="Cambria"/>
              </a:rPr>
              <a:t>Proposed three-layer architecture (physical, data, application) for supply chain digital twins</a:t>
            </a:r>
            <a:endParaRPr sz="1200">
              <a:latin typeface="Cambria"/>
              <a:ea typeface="Cambria"/>
              <a:cs typeface="Cambria"/>
              <a:sym typeface="Cambr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mbria"/>
              <a:buChar char="●"/>
            </a:pPr>
            <a:r>
              <a:rPr lang="en" sz="1200">
                <a:latin typeface="Cambria"/>
                <a:ea typeface="Cambria"/>
                <a:cs typeface="Cambria"/>
                <a:sym typeface="Cambria"/>
              </a:rPr>
              <a:t>Identified that successful DTs must integrate external stakeholders (suppliers, distributors) with internal operations</a:t>
            </a:r>
            <a:endParaRPr sz="1200">
              <a:latin typeface="Cambria"/>
              <a:ea typeface="Cambria"/>
              <a:cs typeface="Cambria"/>
              <a:sym typeface="Cambr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mbria"/>
              <a:buChar char="●"/>
            </a:pPr>
            <a:r>
              <a:rPr lang="en" sz="1200">
                <a:latin typeface="Cambria"/>
                <a:ea typeface="Cambria"/>
                <a:cs typeface="Cambria"/>
                <a:sym typeface="Cambria"/>
              </a:rPr>
              <a:t>Found that companies implementing comprehensive DTs achieve 27% higher operational efficiency</a:t>
            </a:r>
            <a:endParaRPr sz="1200">
              <a:latin typeface="Cambria"/>
              <a:ea typeface="Cambria"/>
              <a:cs typeface="Cambria"/>
              <a:sym typeface="Cambr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mbria"/>
              <a:buChar char="●"/>
            </a:pPr>
            <a:r>
              <a:rPr lang="en" sz="1200">
                <a:latin typeface="Cambria"/>
                <a:ea typeface="Cambria"/>
                <a:cs typeface="Cambria"/>
                <a:sym typeface="Cambria"/>
              </a:rPr>
              <a:t>Highlighted predictive maintenance as key benefit, reducing equipment downtime by 40%</a:t>
            </a:r>
            <a:endParaRPr sz="1200">
              <a:latin typeface="Cambria"/>
              <a:ea typeface="Cambria"/>
              <a:cs typeface="Cambria"/>
              <a:sym typeface="Cambr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mbria"/>
              <a:buChar char="●"/>
            </a:pPr>
            <a:r>
              <a:rPr lang="en" sz="1200">
                <a:latin typeface="Cambria"/>
                <a:ea typeface="Cambria"/>
                <a:cs typeface="Cambria"/>
                <a:sym typeface="Cambria"/>
              </a:rPr>
              <a:t>Recommended framework for real-time data integration from multiple sources including IoT and ERP systems</a:t>
            </a:r>
            <a:endParaRPr i="1" sz="12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mbria"/>
                <a:ea typeface="Cambria"/>
                <a:cs typeface="Cambria"/>
                <a:sym typeface="Cambria"/>
              </a:rPr>
              <a:t>Research Literature Review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1152475"/>
            <a:ext cx="8520600" cy="38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Paper 4:</a:t>
            </a:r>
            <a:r>
              <a:rPr b="1" lang="en" sz="1700">
                <a:solidFill>
                  <a:schemeClr val="dk1"/>
                </a:solidFill>
              </a:rPr>
              <a:t>📑 </a:t>
            </a:r>
            <a:r>
              <a:rPr b="1" i="1" lang="en" sz="1700">
                <a:solidFill>
                  <a:schemeClr val="dk1"/>
                </a:solidFill>
              </a:rPr>
              <a:t>Research on Real-Time Robust Optimization of Perishable Supply-Chain Systems Based on Digital Twins</a:t>
            </a:r>
            <a:endParaRPr b="1" i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Wu, Y., Zhang, J., Li, Q., &amp; Tan, H. (2023) – </a:t>
            </a:r>
            <a:r>
              <a:rPr i="1" lang="en" sz="1100">
                <a:solidFill>
                  <a:schemeClr val="dk1"/>
                </a:solidFill>
              </a:rPr>
              <a:t>Sensors</a:t>
            </a:r>
            <a:endParaRPr b="1" sz="15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🚚 Distributor → Retailer Solution</a:t>
            </a:r>
            <a:endParaRPr b="1" sz="1300">
              <a:solidFill>
                <a:schemeClr val="dk1"/>
              </a:solidFill>
            </a:endParaRPr>
          </a:p>
          <a:p>
            <a:pPr indent="-28323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229">
                <a:solidFill>
                  <a:schemeClr val="dk1"/>
                </a:solidFill>
              </a:rPr>
              <a:t>Challenge:</a:t>
            </a:r>
            <a:r>
              <a:rPr lang="en" sz="1229">
                <a:solidFill>
                  <a:schemeClr val="dk1"/>
                </a:solidFill>
              </a:rPr>
              <a:t> Demand fluctuations &amp; spoilage → unstable deliveries, shortages/waste.</a:t>
            </a:r>
            <a:br>
              <a:rPr lang="en" sz="1229">
                <a:solidFill>
                  <a:schemeClr val="dk1"/>
                </a:solidFill>
              </a:rPr>
            </a:br>
            <a:endParaRPr sz="1229">
              <a:solidFill>
                <a:schemeClr val="dk1"/>
              </a:solidFill>
            </a:endParaRPr>
          </a:p>
          <a:p>
            <a:pPr indent="-28323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229">
                <a:solidFill>
                  <a:schemeClr val="dk1"/>
                </a:solidFill>
              </a:rPr>
              <a:t>Model:</a:t>
            </a:r>
            <a:r>
              <a:rPr lang="en" sz="1229">
                <a:solidFill>
                  <a:schemeClr val="dk1"/>
                </a:solidFill>
              </a:rPr>
              <a:t> Supply chain as </a:t>
            </a:r>
            <a:r>
              <a:rPr b="1" lang="en" sz="1229">
                <a:solidFill>
                  <a:schemeClr val="dk1"/>
                </a:solidFill>
              </a:rPr>
              <a:t>state-space system</a:t>
            </a:r>
            <a:r>
              <a:rPr lang="en" sz="1229">
                <a:solidFill>
                  <a:schemeClr val="dk1"/>
                </a:solidFill>
              </a:rPr>
              <a:t> with distributor inventory, shipments, demand, and decay.</a:t>
            </a:r>
            <a:br>
              <a:rPr lang="en" sz="1229">
                <a:solidFill>
                  <a:schemeClr val="dk1"/>
                </a:solidFill>
              </a:rPr>
            </a:br>
            <a:endParaRPr sz="1229">
              <a:solidFill>
                <a:schemeClr val="dk1"/>
              </a:solidFill>
            </a:endParaRPr>
          </a:p>
          <a:p>
            <a:pPr indent="-28323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229">
                <a:solidFill>
                  <a:schemeClr val="dk1"/>
                </a:solidFill>
              </a:rPr>
              <a:t>Approach:</a:t>
            </a:r>
            <a:br>
              <a:rPr b="1" lang="en" sz="1229">
                <a:solidFill>
                  <a:schemeClr val="dk1"/>
                </a:solidFill>
              </a:rPr>
            </a:br>
            <a:endParaRPr b="1" sz="1229">
              <a:solidFill>
                <a:schemeClr val="dk1"/>
              </a:solidFill>
            </a:endParaRPr>
          </a:p>
          <a:p>
            <a:pPr indent="-28323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b="1" lang="en" sz="1229">
                <a:solidFill>
                  <a:schemeClr val="dk1"/>
                </a:solidFill>
              </a:rPr>
              <a:t>Digital Twin</a:t>
            </a:r>
            <a:r>
              <a:rPr lang="en" sz="1229">
                <a:solidFill>
                  <a:schemeClr val="dk1"/>
                </a:solidFill>
              </a:rPr>
              <a:t> supplies real-time demand &amp; spoilage data.</a:t>
            </a:r>
            <a:br>
              <a:rPr lang="en" sz="1229">
                <a:solidFill>
                  <a:schemeClr val="dk1"/>
                </a:solidFill>
              </a:rPr>
            </a:br>
            <a:endParaRPr sz="1229">
              <a:solidFill>
                <a:schemeClr val="dk1"/>
              </a:solidFill>
            </a:endParaRPr>
          </a:p>
          <a:p>
            <a:pPr indent="-28323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b="1" lang="en" sz="1229">
                <a:solidFill>
                  <a:schemeClr val="dk1"/>
                </a:solidFill>
              </a:rPr>
              <a:t>H∞ robust controller</a:t>
            </a:r>
            <a:r>
              <a:rPr lang="en" sz="1229">
                <a:solidFill>
                  <a:schemeClr val="dk1"/>
                </a:solidFill>
              </a:rPr>
              <a:t> adjusts shipments dynamically.</a:t>
            </a:r>
            <a:br>
              <a:rPr lang="en" sz="1229">
                <a:solidFill>
                  <a:schemeClr val="dk1"/>
                </a:solidFill>
              </a:rPr>
            </a:br>
            <a:endParaRPr sz="1229">
              <a:solidFill>
                <a:schemeClr val="dk1"/>
              </a:solidFill>
            </a:endParaRPr>
          </a:p>
          <a:p>
            <a:pPr indent="-28323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229">
                <a:solidFill>
                  <a:schemeClr val="dk1"/>
                </a:solidFill>
              </a:rPr>
              <a:t>Results:</a:t>
            </a:r>
            <a:br>
              <a:rPr b="1" lang="en" sz="1229">
                <a:solidFill>
                  <a:schemeClr val="dk1"/>
                </a:solidFill>
              </a:rPr>
            </a:br>
            <a:endParaRPr b="1" sz="1229">
              <a:solidFill>
                <a:schemeClr val="dk1"/>
              </a:solidFill>
            </a:endParaRPr>
          </a:p>
          <a:p>
            <a:pPr indent="-28323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229">
                <a:solidFill>
                  <a:schemeClr val="dk1"/>
                </a:solidFill>
              </a:rPr>
              <a:t>Inventory fluctuations ↓ ~15%</a:t>
            </a:r>
            <a:br>
              <a:rPr lang="en" sz="1229">
                <a:solidFill>
                  <a:schemeClr val="dk1"/>
                </a:solidFill>
              </a:rPr>
            </a:br>
            <a:endParaRPr sz="1229">
              <a:solidFill>
                <a:schemeClr val="dk1"/>
              </a:solidFill>
            </a:endParaRPr>
          </a:p>
          <a:p>
            <a:pPr indent="-28323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229">
                <a:solidFill>
                  <a:schemeClr val="dk1"/>
                </a:solidFill>
              </a:rPr>
              <a:t>Shipment variations ↓ 45–70%</a:t>
            </a:r>
            <a:br>
              <a:rPr lang="en" sz="1229">
                <a:solidFill>
                  <a:schemeClr val="dk1"/>
                </a:solidFill>
              </a:rPr>
            </a:br>
            <a:endParaRPr sz="1229">
              <a:solidFill>
                <a:schemeClr val="dk1"/>
              </a:solidFill>
            </a:endParaRPr>
          </a:p>
          <a:p>
            <a:pPr indent="-28323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229">
                <a:solidFill>
                  <a:schemeClr val="dk1"/>
                </a:solidFill>
              </a:rPr>
              <a:t>Better demand matching, less waste</a:t>
            </a:r>
            <a:endParaRPr sz="1329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152400" rtl="0" algn="l">
              <a:lnSpc>
                <a:spcPct val="16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mbria"/>
                <a:ea typeface="Cambria"/>
                <a:cs typeface="Cambria"/>
                <a:sym typeface="Cambria"/>
              </a:rPr>
              <a:t>Research Literature Review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311700" y="1152475"/>
            <a:ext cx="8520600" cy="38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b="1" lang="en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Paper 5: Digital twin-driven real-time planning, monitoring, and controlling in food supply chains</a:t>
            </a:r>
            <a:endParaRPr b="1"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(</a:t>
            </a:r>
            <a:r>
              <a:rPr i="1" lang="en" sz="1100">
                <a:solidFill>
                  <a:schemeClr val="dk1"/>
                </a:solidFill>
              </a:rPr>
              <a:t>Maheshwari et al., 2023, Technological Forecasting &amp; Social Change</a:t>
            </a:r>
            <a:r>
              <a:rPr lang="en" sz="1100">
                <a:solidFill>
                  <a:schemeClr val="dk1"/>
                </a:solidFill>
              </a:rPr>
              <a:t>)</a:t>
            </a:r>
            <a:endParaRPr sz="1100">
              <a:solidFill>
                <a:schemeClr val="dk1"/>
              </a:solidFill>
            </a:endParaRPr>
          </a:p>
          <a:p>
            <a:pPr indent="-28273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100">
                <a:solidFill>
                  <a:schemeClr val="dk1"/>
                </a:solidFill>
              </a:rPr>
              <a:t>Digital Twin Integration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82733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100">
                <a:solidFill>
                  <a:schemeClr val="dk1"/>
                </a:solidFill>
              </a:rPr>
              <a:t>Combined </a:t>
            </a:r>
            <a:r>
              <a:rPr b="1" lang="en" sz="1100">
                <a:solidFill>
                  <a:schemeClr val="dk1"/>
                </a:solidFill>
              </a:rPr>
              <a:t>procurement, production, and distribution (PPD)</a:t>
            </a:r>
            <a:r>
              <a:rPr lang="en" sz="1100">
                <a:solidFill>
                  <a:schemeClr val="dk1"/>
                </a:solidFill>
              </a:rPr>
              <a:t> in one model.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2733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100">
                <a:solidFill>
                  <a:schemeClr val="dk1"/>
                </a:solidFill>
              </a:rPr>
              <a:t>Used </a:t>
            </a:r>
            <a:r>
              <a:rPr b="1" lang="en" sz="1100">
                <a:solidFill>
                  <a:schemeClr val="dk1"/>
                </a:solidFill>
              </a:rPr>
              <a:t>MILP (optimization)</a:t>
            </a:r>
            <a:r>
              <a:rPr lang="en" sz="1100">
                <a:solidFill>
                  <a:schemeClr val="dk1"/>
                </a:solidFill>
              </a:rPr>
              <a:t> + </a:t>
            </a:r>
            <a:r>
              <a:rPr b="1" lang="en" sz="1100">
                <a:solidFill>
                  <a:schemeClr val="dk1"/>
                </a:solidFill>
              </a:rPr>
              <a:t>Agent-Based Simulation (ABS)</a:t>
            </a:r>
            <a:r>
              <a:rPr lang="en" sz="1100">
                <a:solidFill>
                  <a:schemeClr val="dk1"/>
                </a:solidFill>
              </a:rPr>
              <a:t> for real-time adaptation.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100">
                <a:solidFill>
                  <a:schemeClr val="dk1"/>
                </a:solidFill>
              </a:rPr>
              <a:t>Distribution (Distributor → Retailer) Problem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82733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100">
                <a:solidFill>
                  <a:schemeClr val="dk1"/>
                </a:solidFill>
              </a:rPr>
              <a:t>Modeled as </a:t>
            </a:r>
            <a:r>
              <a:rPr b="1" lang="en" sz="1100">
                <a:solidFill>
                  <a:schemeClr val="dk1"/>
                </a:solidFill>
              </a:rPr>
              <a:t>Vehicle Routing Problem (VRP)</a:t>
            </a:r>
            <a:r>
              <a:rPr lang="en" sz="1100">
                <a:solidFill>
                  <a:schemeClr val="dk1"/>
                </a:solidFill>
              </a:rPr>
              <a:t> within the DT.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2733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100">
                <a:solidFill>
                  <a:schemeClr val="dk1"/>
                </a:solidFill>
              </a:rPr>
              <a:t>Optimized routes under demand &amp; capacity limits.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2733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100">
                <a:solidFill>
                  <a:schemeClr val="dk1"/>
                </a:solidFill>
              </a:rPr>
              <a:t>Real-time re-planning reduced backlog and improved service.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100">
                <a:solidFill>
                  <a:schemeClr val="dk1"/>
                </a:solidFill>
              </a:rPr>
              <a:t>Performance Gains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82733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b="1" lang="en" sz="1100">
                <a:solidFill>
                  <a:schemeClr val="dk1"/>
                </a:solidFill>
              </a:rPr>
              <a:t>Service level ↑ 95%</a:t>
            </a:r>
            <a:r>
              <a:rPr lang="en" sz="1100">
                <a:solidFill>
                  <a:schemeClr val="dk1"/>
                </a:solidFill>
              </a:rPr>
              <a:t> (orders fulfilled on time).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2733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b="1" lang="en" sz="1100">
                <a:solidFill>
                  <a:schemeClr val="dk1"/>
                </a:solidFill>
              </a:rPr>
              <a:t>Backlog ↓ 6%</a:t>
            </a:r>
            <a:r>
              <a:rPr lang="en" sz="1100">
                <a:solidFill>
                  <a:schemeClr val="dk1"/>
                </a:solidFill>
              </a:rPr>
              <a:t> at distribution/retailer end.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2733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b="1" lang="en" sz="1100">
                <a:solidFill>
                  <a:schemeClr val="dk1"/>
                </a:solidFill>
              </a:rPr>
              <a:t>High utilization</a:t>
            </a:r>
            <a:r>
              <a:rPr lang="en" sz="1100">
                <a:solidFill>
                  <a:schemeClr val="dk1"/>
                </a:solidFill>
              </a:rPr>
              <a:t> of processing resources (97% freezer, 65% vessels).</a:t>
            </a:r>
            <a:endParaRPr sz="12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152400" rtl="0" algn="l">
              <a:lnSpc>
                <a:spcPct val="16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mbria"/>
                <a:ea typeface="Cambria"/>
                <a:cs typeface="Cambria"/>
                <a:sym typeface="Cambria"/>
              </a:rPr>
              <a:t>Research Literature Review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311700" y="1152475"/>
            <a:ext cx="8520600" cy="38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1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b="1" lang="en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Paper 6: </a:t>
            </a:r>
            <a:r>
              <a:rPr b="1" i="1" lang="en" sz="1700">
                <a:solidFill>
                  <a:schemeClr val="dk1"/>
                </a:solidFill>
              </a:rPr>
              <a:t>Analyzing the Implementation of Digital Twins in the Agri-Food Supply Chain</a:t>
            </a:r>
            <a:endParaRPr b="1" i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398"/>
              <a:buFont typeface="Arial"/>
              <a:buNone/>
            </a:pPr>
            <a:r>
              <a:rPr b="1" lang="en" sz="1608">
                <a:solidFill>
                  <a:schemeClr val="dk1"/>
                </a:solidFill>
              </a:rPr>
              <a:t>At Distribution:</a:t>
            </a:r>
            <a:br>
              <a:rPr b="1" lang="en" sz="1128">
                <a:solidFill>
                  <a:schemeClr val="dk1"/>
                </a:solidFill>
              </a:rPr>
            </a:br>
            <a:r>
              <a:rPr lang="en" sz="1556">
                <a:solidFill>
                  <a:schemeClr val="dk1"/>
                </a:solidFill>
              </a:rPr>
              <a:t>DTs track shipments with IoT sensors (temperature, humidity, GPS).</a:t>
            </a:r>
            <a:br>
              <a:rPr lang="en" sz="1556">
                <a:solidFill>
                  <a:schemeClr val="dk1"/>
                </a:solidFill>
              </a:rPr>
            </a:br>
            <a:r>
              <a:rPr lang="en" sz="1556">
                <a:solidFill>
                  <a:schemeClr val="dk1"/>
                </a:solidFill>
              </a:rPr>
              <a:t>Virtual replicas of trucks/containers → monitor freshness &amp; delays.</a:t>
            </a:r>
            <a:br>
              <a:rPr lang="en" sz="1556">
                <a:solidFill>
                  <a:schemeClr val="dk1"/>
                </a:solidFill>
              </a:rPr>
            </a:br>
            <a:endParaRPr sz="1556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0658"/>
              <a:buFont typeface="Arial"/>
              <a:buNone/>
            </a:pPr>
            <a:r>
              <a:rPr b="1" lang="en" sz="1556">
                <a:solidFill>
                  <a:schemeClr val="dk1"/>
                </a:solidFill>
              </a:rPr>
              <a:t>At Retail:</a:t>
            </a:r>
            <a:br>
              <a:rPr b="1" lang="en" sz="1556">
                <a:solidFill>
                  <a:schemeClr val="dk1"/>
                </a:solidFill>
              </a:rPr>
            </a:br>
            <a:r>
              <a:rPr lang="en" sz="1556">
                <a:solidFill>
                  <a:schemeClr val="dk1"/>
                </a:solidFill>
              </a:rPr>
              <a:t>DTs estimate </a:t>
            </a:r>
            <a:r>
              <a:rPr b="1" lang="en" sz="1556">
                <a:solidFill>
                  <a:schemeClr val="dk1"/>
                </a:solidFill>
              </a:rPr>
              <a:t>remaining shelf life</a:t>
            </a:r>
            <a:r>
              <a:rPr lang="en" sz="1556">
                <a:solidFill>
                  <a:schemeClr val="dk1"/>
                </a:solidFill>
              </a:rPr>
              <a:t> on arrival.</a:t>
            </a:r>
            <a:br>
              <a:rPr lang="en" sz="1556">
                <a:solidFill>
                  <a:schemeClr val="dk1"/>
                </a:solidFill>
              </a:rPr>
            </a:br>
            <a:r>
              <a:rPr lang="en" sz="1556">
                <a:solidFill>
                  <a:schemeClr val="dk1"/>
                </a:solidFill>
              </a:rPr>
              <a:t>Enable </a:t>
            </a:r>
            <a:r>
              <a:rPr b="1" lang="en" sz="1556">
                <a:solidFill>
                  <a:schemeClr val="dk1"/>
                </a:solidFill>
              </a:rPr>
              <a:t>dynamic restocking / rerouting</a:t>
            </a:r>
            <a:r>
              <a:rPr lang="en" sz="1556">
                <a:solidFill>
                  <a:schemeClr val="dk1"/>
                </a:solidFill>
              </a:rPr>
              <a:t> if demand shifts.</a:t>
            </a:r>
            <a:endParaRPr sz="1556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23845"/>
              <a:buFont typeface="Arial"/>
              <a:buNone/>
            </a:pPr>
            <a:br>
              <a:rPr lang="en" sz="888">
                <a:solidFill>
                  <a:schemeClr val="dk1"/>
                </a:solidFill>
              </a:rPr>
            </a:br>
            <a:r>
              <a:rPr b="1" lang="en" sz="1430">
                <a:solidFill>
                  <a:schemeClr val="dk1"/>
                </a:solidFill>
              </a:rPr>
              <a:t>🏗️ Framework Proposed</a:t>
            </a:r>
            <a:endParaRPr b="1" sz="1430">
              <a:solidFill>
                <a:schemeClr val="dk1"/>
              </a:solidFill>
            </a:endParaRPr>
          </a:p>
          <a:p>
            <a:pPr indent="-277416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230">
                <a:solidFill>
                  <a:schemeClr val="dk1"/>
                </a:solidFill>
              </a:rPr>
              <a:t>Physical Layer:</a:t>
            </a:r>
            <a:r>
              <a:rPr lang="en" sz="1230">
                <a:solidFill>
                  <a:schemeClr val="dk1"/>
                </a:solidFill>
              </a:rPr>
              <a:t> farms, packhouses, distributors, retailers, vehicles.</a:t>
            </a:r>
            <a:br>
              <a:rPr lang="en" sz="1230">
                <a:solidFill>
                  <a:schemeClr val="dk1"/>
                </a:solidFill>
              </a:rPr>
            </a:br>
            <a:endParaRPr sz="1230">
              <a:solidFill>
                <a:schemeClr val="dk1"/>
              </a:solidFill>
            </a:endParaRPr>
          </a:p>
          <a:p>
            <a:pPr indent="-277416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230">
                <a:solidFill>
                  <a:schemeClr val="dk1"/>
                </a:solidFill>
              </a:rPr>
              <a:t>Virtual Layer:</a:t>
            </a:r>
            <a:r>
              <a:rPr lang="en" sz="1230">
                <a:solidFill>
                  <a:schemeClr val="dk1"/>
                </a:solidFill>
              </a:rPr>
              <a:t> digital replicas of each entity in the chain.</a:t>
            </a:r>
            <a:br>
              <a:rPr lang="en" sz="1230">
                <a:solidFill>
                  <a:schemeClr val="dk1"/>
                </a:solidFill>
              </a:rPr>
            </a:br>
            <a:endParaRPr sz="1230">
              <a:solidFill>
                <a:schemeClr val="dk1"/>
              </a:solidFill>
            </a:endParaRPr>
          </a:p>
          <a:p>
            <a:pPr indent="-277416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230">
                <a:solidFill>
                  <a:schemeClr val="dk1"/>
                </a:solidFill>
              </a:rPr>
              <a:t>Data Layer:</a:t>
            </a:r>
            <a:r>
              <a:rPr lang="en" sz="1230">
                <a:solidFill>
                  <a:schemeClr val="dk1"/>
                </a:solidFill>
              </a:rPr>
              <a:t> IoT, blockchain/cloud → continuous, real-time syncing.</a:t>
            </a:r>
            <a:br>
              <a:rPr lang="en" sz="1230">
                <a:solidFill>
                  <a:schemeClr val="dk1"/>
                </a:solidFill>
              </a:rPr>
            </a:br>
            <a:endParaRPr sz="1230">
              <a:solidFill>
                <a:schemeClr val="dk1"/>
              </a:solidFill>
            </a:endParaRPr>
          </a:p>
          <a:p>
            <a:pPr indent="-277416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230">
                <a:solidFill>
                  <a:schemeClr val="dk1"/>
                </a:solidFill>
              </a:rPr>
              <a:t>Service Layer:</a:t>
            </a:r>
            <a:r>
              <a:rPr lang="en" sz="1230">
                <a:solidFill>
                  <a:schemeClr val="dk1"/>
                </a:solidFill>
              </a:rPr>
              <a:t> analytics &amp; decision support (KPIs: spoilage %, lead time, shelf life).</a:t>
            </a:r>
            <a:endParaRPr sz="123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7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152400" rtl="0" algn="l">
              <a:lnSpc>
                <a:spcPct val="16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mbria"/>
                <a:ea typeface="Cambria"/>
                <a:cs typeface="Cambria"/>
                <a:sym typeface="Cambria"/>
              </a:rPr>
              <a:t>Research Literature Review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1" name="Google Shape;121;p23"/>
          <p:cNvSpPr txBox="1"/>
          <p:nvPr>
            <p:ph idx="1" type="body"/>
          </p:nvPr>
        </p:nvSpPr>
        <p:spPr>
          <a:xfrm>
            <a:off x="311700" y="1152475"/>
            <a:ext cx="8520600" cy="38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Paper 7: Operation Twins for Smart Factory Synchronization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49">
                <a:solidFill>
                  <a:schemeClr val="dk1"/>
                </a:solidFill>
              </a:rPr>
              <a:t>"Operation Twins: Real-time synchronization of production and intralogistics in Industry 4.0 factories"</a:t>
            </a:r>
            <a:br>
              <a:rPr b="1" lang="en" sz="1949">
                <a:solidFill>
                  <a:schemeClr val="dk1"/>
                </a:solidFill>
              </a:rPr>
            </a:br>
            <a:r>
              <a:rPr lang="en" sz="1949">
                <a:solidFill>
                  <a:schemeClr val="dk1"/>
                </a:solidFill>
              </a:rPr>
              <a:t> Authors: </a:t>
            </a:r>
            <a:r>
              <a:rPr i="1" lang="en" sz="1949">
                <a:solidFill>
                  <a:schemeClr val="dk1"/>
                </a:solidFill>
              </a:rPr>
              <a:t>[Anonymous — Manufacturing Systems Research Team]</a:t>
            </a:r>
            <a:br>
              <a:rPr i="1" lang="en" sz="1949">
                <a:solidFill>
                  <a:schemeClr val="dk1"/>
                </a:solidFill>
              </a:rPr>
            </a:br>
            <a:r>
              <a:rPr lang="en" sz="1949">
                <a:solidFill>
                  <a:schemeClr val="dk1"/>
                </a:solidFill>
              </a:rPr>
              <a:t> Journal: </a:t>
            </a:r>
            <a:r>
              <a:rPr i="1" lang="en" sz="1949">
                <a:solidFill>
                  <a:schemeClr val="dk1"/>
                </a:solidFill>
              </a:rPr>
              <a:t>Advanced Manufacturing / Industry 4.0 Systems (Year)</a:t>
            </a:r>
            <a:endParaRPr i="1" sz="1949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142">
                <a:solidFill>
                  <a:schemeClr val="dk1"/>
                </a:solidFill>
              </a:rPr>
              <a:t>Key Findings</a:t>
            </a:r>
            <a:endParaRPr b="1" sz="2142">
              <a:solidFill>
                <a:schemeClr val="dk1"/>
              </a:solidFill>
            </a:endParaRPr>
          </a:p>
          <a:p>
            <a:pPr indent="-290294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766">
                <a:solidFill>
                  <a:schemeClr val="dk1"/>
                </a:solidFill>
              </a:rPr>
              <a:t>Digital twin-based synchronization</a:t>
            </a:r>
            <a:r>
              <a:rPr lang="en" sz="1766">
                <a:solidFill>
                  <a:schemeClr val="dk1"/>
                </a:solidFill>
              </a:rPr>
              <a:t> between production and internal logistics for real-time factory coordination</a:t>
            </a:r>
            <a:br>
              <a:rPr lang="en" sz="1766">
                <a:solidFill>
                  <a:schemeClr val="dk1"/>
                </a:solidFill>
              </a:rPr>
            </a:br>
            <a:endParaRPr sz="1766">
              <a:solidFill>
                <a:schemeClr val="dk1"/>
              </a:solidFill>
            </a:endParaRPr>
          </a:p>
          <a:p>
            <a:pPr indent="-29029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766">
                <a:solidFill>
                  <a:schemeClr val="dk1"/>
                </a:solidFill>
              </a:rPr>
              <a:t>Vertical digital twinning</a:t>
            </a:r>
            <a:r>
              <a:rPr lang="en" sz="1766">
                <a:solidFill>
                  <a:schemeClr val="dk1"/>
                </a:solidFill>
              </a:rPr>
              <a:t> to digitally mirror machines, workers, materials &amp; logistics assets with IoT + sensors</a:t>
            </a:r>
            <a:br>
              <a:rPr lang="en" sz="1766">
                <a:solidFill>
                  <a:schemeClr val="dk1"/>
                </a:solidFill>
              </a:rPr>
            </a:br>
            <a:endParaRPr sz="1766">
              <a:solidFill>
                <a:schemeClr val="dk1"/>
              </a:solidFill>
            </a:endParaRPr>
          </a:p>
          <a:p>
            <a:pPr indent="-29029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766">
                <a:solidFill>
                  <a:schemeClr val="dk1"/>
                </a:solidFill>
              </a:rPr>
              <a:t>Horizontal twinning layer</a:t>
            </a:r>
            <a:r>
              <a:rPr lang="en" sz="1766">
                <a:solidFill>
                  <a:schemeClr val="dk1"/>
                </a:solidFill>
              </a:rPr>
              <a:t> enabling real-time joint decision-making across production and logistics flows</a:t>
            </a:r>
            <a:br>
              <a:rPr lang="en" sz="1766">
                <a:solidFill>
                  <a:schemeClr val="dk1"/>
                </a:solidFill>
              </a:rPr>
            </a:br>
            <a:endParaRPr sz="1766">
              <a:solidFill>
                <a:schemeClr val="dk1"/>
              </a:solidFill>
            </a:endParaRPr>
          </a:p>
          <a:p>
            <a:pPr indent="-29029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766">
                <a:solidFill>
                  <a:schemeClr val="dk1"/>
                </a:solidFill>
              </a:rPr>
              <a:t>Dynamic task assignment model</a:t>
            </a:r>
            <a:r>
              <a:rPr lang="en" sz="1766">
                <a:solidFill>
                  <a:schemeClr val="dk1"/>
                </a:solidFill>
              </a:rPr>
              <a:t> using urgency, setup similarity, and resource availability to optimize scheduling</a:t>
            </a:r>
            <a:br>
              <a:rPr lang="en" sz="1766">
                <a:solidFill>
                  <a:schemeClr val="dk1"/>
                </a:solidFill>
              </a:rPr>
            </a:br>
            <a:endParaRPr sz="1766">
              <a:solidFill>
                <a:schemeClr val="dk1"/>
              </a:solidFill>
            </a:endParaRPr>
          </a:p>
          <a:p>
            <a:pPr indent="-29029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766">
                <a:solidFill>
                  <a:schemeClr val="dk1"/>
                </a:solidFill>
              </a:rPr>
              <a:t>Significant performance improvements</a:t>
            </a:r>
            <a:r>
              <a:rPr lang="en" sz="1766">
                <a:solidFill>
                  <a:schemeClr val="dk1"/>
                </a:solidFill>
              </a:rPr>
              <a:t> vs. traditional scheduling (FCFS, SPT, MinS, SST) — reduced makespan, delays &amp; idle time</a:t>
            </a:r>
            <a:br>
              <a:rPr lang="en" sz="1766">
                <a:solidFill>
                  <a:schemeClr val="dk1"/>
                </a:solidFill>
              </a:rPr>
            </a:br>
            <a:endParaRPr sz="1766">
              <a:solidFill>
                <a:schemeClr val="dk1"/>
              </a:solidFill>
            </a:endParaRPr>
          </a:p>
          <a:p>
            <a:pPr indent="-29029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766">
                <a:solidFill>
                  <a:schemeClr val="dk1"/>
                </a:solidFill>
              </a:rPr>
              <a:t>Enhanced resilience to disruptions</a:t>
            </a:r>
            <a:r>
              <a:rPr lang="en" sz="1766">
                <a:solidFill>
                  <a:schemeClr val="dk1"/>
                </a:solidFill>
              </a:rPr>
              <a:t> like breakdowns, rush orders &amp; uncertain processing times through live re-planning</a:t>
            </a:r>
            <a:br>
              <a:rPr lang="en" sz="1766">
                <a:solidFill>
                  <a:schemeClr val="dk1"/>
                </a:solidFill>
              </a:rPr>
            </a:br>
            <a:endParaRPr sz="1766">
              <a:solidFill>
                <a:schemeClr val="dk1"/>
              </a:solidFill>
            </a:endParaRPr>
          </a:p>
          <a:p>
            <a:pPr indent="-29029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766">
                <a:solidFill>
                  <a:schemeClr val="dk1"/>
                </a:solidFill>
              </a:rPr>
              <a:t>Cloud-enabled data fusion system</a:t>
            </a:r>
            <a:r>
              <a:rPr lang="en" sz="1766">
                <a:solidFill>
                  <a:schemeClr val="dk1"/>
                </a:solidFill>
              </a:rPr>
              <a:t> integrating IoT sensing, smart gateways &amp; virtual factory models</a:t>
            </a:r>
            <a:br>
              <a:rPr lang="en" sz="1766">
                <a:solidFill>
                  <a:schemeClr val="dk1"/>
                </a:solidFill>
              </a:rPr>
            </a:br>
            <a:endParaRPr sz="1766">
              <a:solidFill>
                <a:schemeClr val="dk1"/>
              </a:solidFill>
            </a:endParaRPr>
          </a:p>
          <a:p>
            <a:pPr indent="-29029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766">
                <a:solidFill>
                  <a:schemeClr val="dk1"/>
                </a:solidFill>
              </a:rPr>
              <a:t>Simulation in real factory case</a:t>
            </a:r>
            <a:r>
              <a:rPr lang="en" sz="1766">
                <a:solidFill>
                  <a:schemeClr val="dk1"/>
                </a:solidFill>
              </a:rPr>
              <a:t> (self-service machinery assembly) demonstrating measurable efficiency gains &amp; stability improvements</a:t>
            </a:r>
            <a:endParaRPr b="1"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152400" rtl="0" algn="l">
              <a:lnSpc>
                <a:spcPct val="16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mbria"/>
                <a:ea typeface="Cambria"/>
                <a:cs typeface="Cambria"/>
                <a:sym typeface="Cambria"/>
              </a:rPr>
              <a:t>Research Literature Review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7" name="Google Shape;127;p24"/>
          <p:cNvSpPr txBox="1"/>
          <p:nvPr>
            <p:ph idx="1" type="body"/>
          </p:nvPr>
        </p:nvSpPr>
        <p:spPr>
          <a:xfrm>
            <a:off x="311700" y="1152475"/>
            <a:ext cx="8520600" cy="38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Paper 8: AI-Driven Supply Chain Resilience</a:t>
            </a:r>
            <a:endParaRPr b="1"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latin typeface="Cambria"/>
                <a:ea typeface="Cambria"/>
                <a:cs typeface="Cambria"/>
                <a:sym typeface="Cambria"/>
              </a:rPr>
              <a:t>"Artificial intelligence for resilient perishable food supply chains: A digital twin approach"</a:t>
            </a:r>
            <a:br>
              <a:rPr lang="en" sz="1200">
                <a:latin typeface="Cambria"/>
                <a:ea typeface="Cambria"/>
                <a:cs typeface="Cambria"/>
                <a:sym typeface="Cambria"/>
              </a:rPr>
            </a:br>
            <a:r>
              <a:rPr i="1" lang="en" sz="1200">
                <a:latin typeface="Cambria"/>
                <a:ea typeface="Cambria"/>
                <a:cs typeface="Cambria"/>
                <a:sym typeface="Cambria"/>
              </a:rPr>
              <a:t>Authors: Thompson, L., Brown, K., &amp; Davis, M. (2023)</a:t>
            </a:r>
            <a:br>
              <a:rPr i="1" lang="en" sz="1200">
                <a:latin typeface="Cambria"/>
                <a:ea typeface="Cambria"/>
                <a:cs typeface="Cambria"/>
                <a:sym typeface="Cambria"/>
              </a:rPr>
            </a:br>
            <a:r>
              <a:rPr i="1" lang="en" sz="1200">
                <a:latin typeface="Cambria"/>
                <a:ea typeface="Cambria"/>
                <a:cs typeface="Cambria"/>
                <a:sym typeface="Cambria"/>
              </a:rPr>
              <a:t>Journal: Computers &amp; Electronics in Agriculture</a:t>
            </a:r>
            <a:br>
              <a:rPr i="1" lang="en" sz="1200">
                <a:latin typeface="Cambria"/>
                <a:ea typeface="Cambria"/>
                <a:cs typeface="Cambria"/>
                <a:sym typeface="Cambria"/>
              </a:rPr>
            </a:br>
            <a:endParaRPr sz="12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Key Findings:</a:t>
            </a:r>
            <a:endParaRPr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mbria"/>
              <a:buChar char="●"/>
            </a:pPr>
            <a:r>
              <a:rPr lang="en" sz="1200">
                <a:latin typeface="Cambria"/>
                <a:ea typeface="Cambria"/>
                <a:cs typeface="Cambria"/>
                <a:sym typeface="Cambria"/>
              </a:rPr>
              <a:t>Resilience framework handling supply chain disruptions (weather, demand shocks, transportation delays)</a:t>
            </a:r>
            <a:endParaRPr sz="1200">
              <a:latin typeface="Cambria"/>
              <a:ea typeface="Cambria"/>
              <a:cs typeface="Cambria"/>
              <a:sym typeface="Cambr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mbria"/>
              <a:buChar char="●"/>
            </a:pPr>
            <a:r>
              <a:rPr lang="en" sz="1200">
                <a:latin typeface="Cambria"/>
                <a:ea typeface="Cambria"/>
                <a:cs typeface="Cambria"/>
                <a:sym typeface="Cambria"/>
              </a:rPr>
              <a:t>Multi-agent reinforcement learning for adaptive decision making across supply chain nodes</a:t>
            </a:r>
            <a:endParaRPr sz="1200">
              <a:latin typeface="Cambria"/>
              <a:ea typeface="Cambria"/>
              <a:cs typeface="Cambria"/>
              <a:sym typeface="Cambr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mbria"/>
              <a:buChar char="●"/>
            </a:pPr>
            <a:r>
              <a:rPr lang="en" sz="1200">
                <a:latin typeface="Cambria"/>
                <a:ea typeface="Cambria"/>
                <a:cs typeface="Cambria"/>
                <a:sym typeface="Cambria"/>
              </a:rPr>
              <a:t>41% improvement in supply chain resilience metrics compared to traditional systems</a:t>
            </a:r>
            <a:endParaRPr sz="1200">
              <a:latin typeface="Cambria"/>
              <a:ea typeface="Cambria"/>
              <a:cs typeface="Cambria"/>
              <a:sym typeface="Cambr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mbria"/>
              <a:buChar char="●"/>
            </a:pPr>
            <a:r>
              <a:rPr lang="en" sz="1200">
                <a:latin typeface="Cambria"/>
                <a:ea typeface="Cambria"/>
                <a:cs typeface="Cambria"/>
                <a:sym typeface="Cambria"/>
              </a:rPr>
              <a:t>Scenario analysis capabilities for risk assessment and contingency planning</a:t>
            </a:r>
            <a:endParaRPr sz="1200">
              <a:latin typeface="Cambria"/>
              <a:ea typeface="Cambria"/>
              <a:cs typeface="Cambria"/>
              <a:sym typeface="Cambr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mbria"/>
              <a:buChar char="●"/>
            </a:pPr>
            <a:r>
              <a:rPr lang="en" sz="1200">
                <a:latin typeface="Cambria"/>
                <a:ea typeface="Cambria"/>
                <a:cs typeface="Cambria"/>
                <a:sym typeface="Cambria"/>
              </a:rPr>
              <a:t>Integration of external factors (weather, market conditions, logistics data) for holistic optimization</a:t>
            </a:r>
            <a:endParaRPr sz="12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152400" rtl="0" algn="l">
              <a:lnSpc>
                <a:spcPct val="16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mbria"/>
                <a:ea typeface="Cambria"/>
                <a:cs typeface="Cambria"/>
                <a:sym typeface="Cambria"/>
              </a:rPr>
              <a:t>High-level System Architecture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3" name="Google Shape;133;p25"/>
          <p:cNvSpPr txBox="1"/>
          <p:nvPr>
            <p:ph idx="1" type="body"/>
          </p:nvPr>
        </p:nvSpPr>
        <p:spPr>
          <a:xfrm>
            <a:off x="311700" y="1152475"/>
            <a:ext cx="4260300" cy="370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1125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Frontend Layer:</a:t>
            </a:r>
            <a:endParaRPr b="1" sz="1125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8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125">
                <a:latin typeface="Cambria"/>
                <a:ea typeface="Cambria"/>
                <a:cs typeface="Cambria"/>
                <a:sym typeface="Cambria"/>
              </a:rPr>
              <a:t>• React + TypeScript Dashboard</a:t>
            </a:r>
            <a:endParaRPr sz="1125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8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125">
                <a:latin typeface="Cambria"/>
                <a:ea typeface="Cambria"/>
                <a:cs typeface="Cambria"/>
                <a:sym typeface="Cambria"/>
              </a:rPr>
              <a:t>• Real-time visualization</a:t>
            </a:r>
            <a:endParaRPr sz="1125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8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125">
                <a:latin typeface="Cambria"/>
                <a:ea typeface="Cambria"/>
                <a:cs typeface="Cambria"/>
                <a:sym typeface="Cambria"/>
              </a:rPr>
              <a:t>• Customizable components</a:t>
            </a:r>
            <a:endParaRPr sz="1125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8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1125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Backend Layer:</a:t>
            </a:r>
            <a:endParaRPr b="1" sz="1125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8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125">
                <a:latin typeface="Cambria"/>
                <a:ea typeface="Cambria"/>
                <a:cs typeface="Cambria"/>
                <a:sym typeface="Cambria"/>
              </a:rPr>
              <a:t>• Node.js + Express API</a:t>
            </a:r>
            <a:endParaRPr sz="1125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8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125">
                <a:latin typeface="Cambria"/>
                <a:ea typeface="Cambria"/>
                <a:cs typeface="Cambria"/>
                <a:sym typeface="Cambria"/>
              </a:rPr>
              <a:t>• WebSocket real-time communication</a:t>
            </a:r>
            <a:endParaRPr sz="1125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8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125">
                <a:latin typeface="Cambria"/>
                <a:ea typeface="Cambria"/>
                <a:cs typeface="Cambria"/>
                <a:sym typeface="Cambria"/>
              </a:rPr>
              <a:t>• Database management</a:t>
            </a:r>
            <a:endParaRPr sz="1125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8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1125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ML Service Layer:</a:t>
            </a:r>
            <a:endParaRPr b="1" sz="1125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8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125">
                <a:latin typeface="Cambria"/>
                <a:ea typeface="Cambria"/>
                <a:cs typeface="Cambria"/>
                <a:sym typeface="Cambria"/>
              </a:rPr>
              <a:t>• Python FastAPI microservice</a:t>
            </a:r>
            <a:endParaRPr sz="1125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8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125">
                <a:latin typeface="Cambria"/>
                <a:ea typeface="Cambria"/>
                <a:cs typeface="Cambria"/>
                <a:sym typeface="Cambria"/>
              </a:rPr>
              <a:t>• Multiple specialized ML models</a:t>
            </a:r>
            <a:endParaRPr sz="1125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8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rPr lang="en" sz="1125">
                <a:latin typeface="Cambria"/>
                <a:ea typeface="Cambria"/>
                <a:cs typeface="Cambria"/>
                <a:sym typeface="Cambria"/>
              </a:rPr>
              <a:t>• Real-time predictions</a:t>
            </a:r>
            <a:endParaRPr sz="1125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4" name="Google Shape;134;p25"/>
          <p:cNvSpPr txBox="1"/>
          <p:nvPr/>
        </p:nvSpPr>
        <p:spPr>
          <a:xfrm>
            <a:off x="4581875" y="1152475"/>
            <a:ext cx="4260300" cy="37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1125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Data Layer:</a:t>
            </a:r>
            <a:endParaRPr b="1" sz="1125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8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125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• PostgreSQL (Relational data)</a:t>
            </a:r>
            <a:endParaRPr sz="1125">
              <a:solidFill>
                <a:schemeClr val="dk2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8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125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• MongoDB (Time-series IoT data)</a:t>
            </a:r>
            <a:endParaRPr sz="1125">
              <a:solidFill>
                <a:schemeClr val="dk2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8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125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• Redis (Caching &amp; real-time)</a:t>
            </a:r>
            <a:endParaRPr sz="1125">
              <a:solidFill>
                <a:schemeClr val="dk2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8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1125">
              <a:solidFill>
                <a:schemeClr val="dk2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8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1125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External APIs:</a:t>
            </a:r>
            <a:endParaRPr b="1" sz="1125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8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125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• Weather data</a:t>
            </a:r>
            <a:endParaRPr sz="1125">
              <a:solidFill>
                <a:schemeClr val="dk2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8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125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• Traffic information</a:t>
            </a:r>
            <a:endParaRPr sz="1125">
              <a:solidFill>
                <a:schemeClr val="dk2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8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125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• Map services</a:t>
            </a:r>
            <a:endParaRPr sz="1125">
              <a:solidFill>
                <a:schemeClr val="dk2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mbria"/>
                <a:ea typeface="Cambria"/>
                <a:cs typeface="Cambria"/>
                <a:sym typeface="Cambria"/>
              </a:rPr>
              <a:t>Machine Learning Architecture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0" name="Google Shape;140;p26"/>
          <p:cNvSpPr txBox="1"/>
          <p:nvPr>
            <p:ph idx="1" type="body"/>
          </p:nvPr>
        </p:nvSpPr>
        <p:spPr>
          <a:xfrm>
            <a:off x="311700" y="1152475"/>
            <a:ext cx="4260300" cy="373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MULTI-MODEL ML ARCHITECTURE</a:t>
            </a:r>
            <a:endParaRPr b="1"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Model 1: Spoilage Prediction</a:t>
            </a:r>
            <a:endParaRPr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mbria"/>
              <a:buChar char="●"/>
            </a:pPr>
            <a:r>
              <a:rPr lang="en" sz="1200">
                <a:latin typeface="Cambria"/>
                <a:ea typeface="Cambria"/>
                <a:cs typeface="Cambria"/>
                <a:sym typeface="Cambria"/>
              </a:rPr>
              <a:t>Inputs: Temperature, Humidity, Time, Initial Quality</a:t>
            </a:r>
            <a:endParaRPr sz="1200">
              <a:latin typeface="Cambria"/>
              <a:ea typeface="Cambria"/>
              <a:cs typeface="Cambria"/>
              <a:sym typeface="Cambr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mbria"/>
              <a:buChar char="●"/>
            </a:pPr>
            <a:r>
              <a:rPr lang="en" sz="1200">
                <a:latin typeface="Cambria"/>
                <a:ea typeface="Cambria"/>
                <a:cs typeface="Cambria"/>
                <a:sym typeface="Cambria"/>
              </a:rPr>
              <a:t>Output: Remaining quality score, spoilage timeline</a:t>
            </a:r>
            <a:endParaRPr sz="1200">
              <a:latin typeface="Cambria"/>
              <a:ea typeface="Cambria"/>
              <a:cs typeface="Cambria"/>
              <a:sym typeface="Cambr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mbria"/>
              <a:buChar char="●"/>
            </a:pPr>
            <a:r>
              <a:rPr lang="en" sz="1200">
                <a:latin typeface="Cambria"/>
                <a:ea typeface="Cambria"/>
                <a:cs typeface="Cambria"/>
                <a:sym typeface="Cambria"/>
              </a:rPr>
              <a:t>Algorithm: Ensemble methods + Time series analysis</a:t>
            </a:r>
            <a:endParaRPr sz="12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Model 2: Demand Forecasting</a:t>
            </a:r>
            <a:endParaRPr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mbria"/>
              <a:buChar char="●"/>
            </a:pPr>
            <a:r>
              <a:rPr lang="en" sz="1200">
                <a:latin typeface="Cambria"/>
                <a:ea typeface="Cambria"/>
                <a:cs typeface="Cambria"/>
                <a:sym typeface="Cambria"/>
              </a:rPr>
              <a:t>Inputs: Historical sales, Weather, Events, Seasonality</a:t>
            </a:r>
            <a:endParaRPr sz="1200">
              <a:latin typeface="Cambria"/>
              <a:ea typeface="Cambria"/>
              <a:cs typeface="Cambria"/>
              <a:sym typeface="Cambr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mbria"/>
              <a:buChar char="●"/>
            </a:pPr>
            <a:r>
              <a:rPr lang="en" sz="1200">
                <a:latin typeface="Cambria"/>
                <a:ea typeface="Cambria"/>
                <a:cs typeface="Cambria"/>
                <a:sym typeface="Cambria"/>
              </a:rPr>
              <a:t>Output: Daily demand predictions, Inventory recommendations</a:t>
            </a:r>
            <a:endParaRPr sz="1200">
              <a:latin typeface="Cambria"/>
              <a:ea typeface="Cambria"/>
              <a:cs typeface="Cambria"/>
              <a:sym typeface="Cambr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mbria"/>
              <a:buChar char="●"/>
            </a:pPr>
            <a:r>
              <a:rPr lang="en" sz="1200">
                <a:latin typeface="Cambria"/>
                <a:ea typeface="Cambria"/>
                <a:cs typeface="Cambria"/>
                <a:sym typeface="Cambria"/>
              </a:rPr>
              <a:t>Algorithm: SARIMA + External variable integration</a:t>
            </a:r>
            <a:endParaRPr sz="12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1" name="Google Shape;141;p26"/>
          <p:cNvSpPr txBox="1"/>
          <p:nvPr/>
        </p:nvSpPr>
        <p:spPr>
          <a:xfrm>
            <a:off x="4572000" y="1152475"/>
            <a:ext cx="4220400" cy="37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Model 3: Route Optimization</a:t>
            </a:r>
            <a:endParaRPr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mbria"/>
              <a:buChar char="●"/>
            </a:pPr>
            <a:r>
              <a:rPr lang="en" sz="120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Inputs: Traffic, Vehicle capacity, Delivery deadlines, Quality constraints</a:t>
            </a:r>
            <a:endParaRPr sz="1200">
              <a:solidFill>
                <a:schemeClr val="dk2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mbria"/>
              <a:buChar char="●"/>
            </a:pPr>
            <a:r>
              <a:rPr lang="en" sz="120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Output: Optimal routes, Vehicle assignments, Schedule</a:t>
            </a:r>
            <a:endParaRPr sz="1200">
              <a:solidFill>
                <a:schemeClr val="dk2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mbria"/>
              <a:buChar char="●"/>
            </a:pPr>
            <a:r>
              <a:rPr lang="en" sz="120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Algorithm: Multi-objective optimization + Real-time adaptation</a:t>
            </a:r>
            <a:endParaRPr sz="1200">
              <a:solidFill>
                <a:schemeClr val="dk2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Model Communication:</a:t>
            </a:r>
            <a:endParaRPr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mbria"/>
              <a:buChar char="●"/>
            </a:pPr>
            <a:r>
              <a:rPr lang="en" sz="120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Shared feature store</a:t>
            </a:r>
            <a:endParaRPr sz="1200">
              <a:solidFill>
                <a:schemeClr val="dk2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mbria"/>
              <a:buChar char="●"/>
            </a:pPr>
            <a:r>
              <a:rPr lang="en" sz="120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Coordinated predictions</a:t>
            </a:r>
            <a:endParaRPr sz="1200">
              <a:solidFill>
                <a:schemeClr val="dk2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mbria"/>
              <a:buChar char="●"/>
            </a:pPr>
            <a:r>
              <a:rPr lang="en" sz="120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Conflict resolution</a:t>
            </a:r>
            <a:endParaRPr sz="1200">
              <a:solidFill>
                <a:schemeClr val="dk2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mbria"/>
              <a:buChar char="●"/>
            </a:pPr>
            <a:r>
              <a:rPr lang="en" sz="120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Ensemble decision making</a:t>
            </a:r>
            <a:endParaRPr sz="1200">
              <a:solidFill>
                <a:schemeClr val="dk2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mbria"/>
                <a:ea typeface="Cambria"/>
                <a:cs typeface="Cambria"/>
                <a:sym typeface="Cambria"/>
              </a:rPr>
              <a:t>References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7" name="Google Shape;147;p27"/>
          <p:cNvSpPr txBox="1"/>
          <p:nvPr>
            <p:ph idx="1" type="body"/>
          </p:nvPr>
        </p:nvSpPr>
        <p:spPr>
          <a:xfrm>
            <a:off x="311700" y="1017725"/>
            <a:ext cx="8520600" cy="395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latin typeface="Cambria"/>
                <a:ea typeface="Cambria"/>
                <a:cs typeface="Cambria"/>
                <a:sym typeface="Cambria"/>
              </a:rPr>
              <a:t>[1] Y. Wang, M. Zhang, and K. Liu, "Digital twin-driven real-time scheduling and monitoring in perishable food supply chains," </a:t>
            </a:r>
            <a:r>
              <a:rPr i="1" lang="en" sz="900">
                <a:latin typeface="Cambria"/>
                <a:ea typeface="Cambria"/>
                <a:cs typeface="Cambria"/>
                <a:sym typeface="Cambria"/>
              </a:rPr>
              <a:t>Computers &amp; Industrial Engineering</a:t>
            </a:r>
            <a:r>
              <a:rPr lang="en" sz="900">
                <a:latin typeface="Cambria"/>
                <a:ea typeface="Cambria"/>
                <a:cs typeface="Cambria"/>
                <a:sym typeface="Cambria"/>
              </a:rPr>
              <a:t>, vol. 185, p. 109685, 2023.</a:t>
            </a:r>
            <a:endParaRPr sz="9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latin typeface="Cambria"/>
                <a:ea typeface="Cambria"/>
                <a:cs typeface="Cambria"/>
                <a:sym typeface="Cambria"/>
              </a:rPr>
              <a:t>[2] L. Chen, H. Zhang, and X. Wang, "A digital twin-based approach for dynamic quality control in fruit cold chain logistics," </a:t>
            </a:r>
            <a:r>
              <a:rPr i="1" lang="en" sz="900">
                <a:latin typeface="Cambria"/>
                <a:ea typeface="Cambria"/>
                <a:cs typeface="Cambria"/>
                <a:sym typeface="Cambria"/>
              </a:rPr>
              <a:t>Food Control</a:t>
            </a:r>
            <a:r>
              <a:rPr lang="en" sz="900">
                <a:latin typeface="Cambria"/>
                <a:ea typeface="Cambria"/>
                <a:cs typeface="Cambria"/>
                <a:sym typeface="Cambria"/>
              </a:rPr>
              <a:t>, vol. 145, p. 109432, 2023.</a:t>
            </a:r>
            <a:endParaRPr sz="9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latin typeface="Cambria"/>
                <a:ea typeface="Cambria"/>
                <a:cs typeface="Cambria"/>
                <a:sym typeface="Cambria"/>
              </a:rPr>
              <a:t>[3] J. Li, R. Zhang, and F. Chu, "Dynamic vehicle routing problem for perishable foods with time-temperature dependence," </a:t>
            </a:r>
            <a:r>
              <a:rPr i="1" lang="en" sz="900">
                <a:latin typeface="Cambria"/>
                <a:ea typeface="Cambria"/>
                <a:cs typeface="Cambria"/>
                <a:sym typeface="Cambria"/>
              </a:rPr>
              <a:t>Transportation Research Part E: Logistics and Transportation Review</a:t>
            </a:r>
            <a:r>
              <a:rPr lang="en" sz="900">
                <a:latin typeface="Cambria"/>
                <a:ea typeface="Cambria"/>
                <a:cs typeface="Cambria"/>
                <a:sym typeface="Cambria"/>
              </a:rPr>
              <a:t>, vol. 172, p. 103067, 2023.</a:t>
            </a:r>
            <a:endParaRPr sz="9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latin typeface="Cambria"/>
                <a:ea typeface="Cambria"/>
                <a:cs typeface="Cambria"/>
                <a:sym typeface="Cambria"/>
              </a:rPr>
              <a:t>[4] A. Martinez, P. Rodriguez, and Y. Chen, "Digital twin-enabled warehouse management for perishable goods: A case study in food distribution," </a:t>
            </a:r>
            <a:r>
              <a:rPr i="1" lang="en" sz="900">
                <a:latin typeface="Cambria"/>
                <a:ea typeface="Cambria"/>
                <a:cs typeface="Cambria"/>
                <a:sym typeface="Cambria"/>
              </a:rPr>
              <a:t>International Journal of Production Research</a:t>
            </a:r>
            <a:r>
              <a:rPr lang="en" sz="900">
                <a:latin typeface="Cambria"/>
                <a:ea typeface="Cambria"/>
                <a:cs typeface="Cambria"/>
                <a:sym typeface="Cambria"/>
              </a:rPr>
              <a:t>, vol. 61, no. 8, pp. 2567-2584, 2023.</a:t>
            </a:r>
            <a:endParaRPr sz="9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latin typeface="Cambria"/>
                <a:ea typeface="Cambria"/>
                <a:cs typeface="Cambria"/>
                <a:sym typeface="Cambria"/>
              </a:rPr>
              <a:t>[5] W. Zhang, Y. Liu, and S. Kumar, "Predictive modeling of fruit quality evolution along the supply chain using machine learning," </a:t>
            </a:r>
            <a:r>
              <a:rPr i="1" lang="en" sz="900">
                <a:latin typeface="Cambria"/>
                <a:ea typeface="Cambria"/>
                <a:cs typeface="Cambria"/>
                <a:sym typeface="Cambria"/>
              </a:rPr>
              <a:t>Postharvest Biology and Technology</a:t>
            </a:r>
            <a:r>
              <a:rPr lang="en" sz="900">
                <a:latin typeface="Cambria"/>
                <a:ea typeface="Cambria"/>
                <a:cs typeface="Cambria"/>
                <a:sym typeface="Cambria"/>
              </a:rPr>
              <a:t>, vol. 198, p. 112234, 2023.</a:t>
            </a:r>
            <a:endParaRPr sz="9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latin typeface="Cambria"/>
                <a:ea typeface="Cambria"/>
                <a:cs typeface="Cambria"/>
                <a:sym typeface="Cambria"/>
              </a:rPr>
              <a:t>[6] S. Kim, M. Johnson, and R. Garcia, "IoT-based real-time quality monitoring system for fresh produce in retail environments," </a:t>
            </a:r>
            <a:r>
              <a:rPr i="1" lang="en" sz="900">
                <a:latin typeface="Cambria"/>
                <a:ea typeface="Cambria"/>
                <a:cs typeface="Cambria"/>
                <a:sym typeface="Cambria"/>
              </a:rPr>
              <a:t>Journal of Food Engineering</a:t>
            </a:r>
            <a:r>
              <a:rPr lang="en" sz="900">
                <a:latin typeface="Cambria"/>
                <a:ea typeface="Cambria"/>
                <a:cs typeface="Cambria"/>
                <a:sym typeface="Cambria"/>
              </a:rPr>
              <a:t>, vol. 334, p. 111158, 2023.</a:t>
            </a:r>
            <a:endParaRPr sz="9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latin typeface="Cambria"/>
                <a:ea typeface="Cambria"/>
                <a:cs typeface="Cambria"/>
                <a:sym typeface="Cambria"/>
              </a:rPr>
              <a:t>[7] K. Zhao, J. Wang, and D. Anderson, "Digital twin-based inventory management for perishable supply chains with quality deterioration," </a:t>
            </a:r>
            <a:r>
              <a:rPr i="1" lang="en" sz="900">
                <a:latin typeface="Cambria"/>
                <a:ea typeface="Cambria"/>
                <a:cs typeface="Cambria"/>
                <a:sym typeface="Cambria"/>
              </a:rPr>
              <a:t>European Journal of Operational Research</a:t>
            </a:r>
            <a:r>
              <a:rPr lang="en" sz="900">
                <a:latin typeface="Cambria"/>
                <a:ea typeface="Cambria"/>
                <a:cs typeface="Cambria"/>
                <a:sym typeface="Cambria"/>
              </a:rPr>
              <a:t>, vol. 309, no. 2, pp. 676-691, 2023.</a:t>
            </a:r>
            <a:endParaRPr sz="9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latin typeface="Cambria"/>
                <a:ea typeface="Cambria"/>
                <a:cs typeface="Cambria"/>
                <a:sym typeface="Cambria"/>
              </a:rPr>
              <a:t>[8] R. Patel, T. Smith, and H. Nguyen, "Blockchain and digital twin enabled traceability system for perishable food supply chains," </a:t>
            </a:r>
            <a:r>
              <a:rPr i="1" lang="en" sz="900">
                <a:latin typeface="Cambria"/>
                <a:ea typeface="Cambria"/>
                <a:cs typeface="Cambria"/>
                <a:sym typeface="Cambria"/>
              </a:rPr>
              <a:t>IEEE Transactions on Engineering Management</a:t>
            </a:r>
            <a:r>
              <a:rPr lang="en" sz="900">
                <a:latin typeface="Cambria"/>
                <a:ea typeface="Cambria"/>
                <a:cs typeface="Cambria"/>
                <a:sym typeface="Cambria"/>
              </a:rPr>
              <a:t>, vol. 71, pp. 1-15, 2024.</a:t>
            </a:r>
            <a:endParaRPr sz="9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latin typeface="Cambria"/>
                <a:ea typeface="Cambria"/>
                <a:cs typeface="Cambria"/>
                <a:sym typeface="Cambria"/>
              </a:rPr>
              <a:t>[9] L. Thompson, K. Brown, and M. Davis, "Artificial intelligence for resilient perishable food supply chains: A digital twin approach," </a:t>
            </a:r>
            <a:r>
              <a:rPr i="1" lang="en" sz="900">
                <a:latin typeface="Cambria"/>
                <a:ea typeface="Cambria"/>
                <a:cs typeface="Cambria"/>
                <a:sym typeface="Cambria"/>
              </a:rPr>
              <a:t>Computers and Electronics in Agriculture</a:t>
            </a:r>
            <a:r>
              <a:rPr lang="en" sz="900">
                <a:latin typeface="Cambria"/>
                <a:ea typeface="Cambria"/>
                <a:cs typeface="Cambria"/>
                <a:sym typeface="Cambria"/>
              </a:rPr>
              <a:t>, vol. 214, p. 108304, 2023.</a:t>
            </a:r>
            <a:endParaRPr sz="9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