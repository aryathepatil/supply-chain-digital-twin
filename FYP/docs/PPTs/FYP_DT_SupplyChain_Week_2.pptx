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eed05ea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eed05ea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f7dd2410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f7dd2410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f7dd2410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f7dd2410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f7dd2410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f7dd2410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f7dd241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f7dd241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f7dd2410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f7dd2410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f7dd2410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f7dd2410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f7dd2410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f7dd2410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f7dd2410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f7dd2410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f7dd2410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f7dd2410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f7dd2410f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f7dd2410f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f7dd2410f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f7dd2410f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f7dd2410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f7dd2410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f7dd2410f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f7dd2410f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f7dd2410f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f7dd2410f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f7dd2410f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9f7dd2410f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20124D"/>
                </a:solidFill>
                <a:latin typeface="Cambria"/>
                <a:ea typeface="Cambria"/>
                <a:cs typeface="Cambria"/>
                <a:sym typeface="Cambria"/>
              </a:rPr>
              <a:t>Digital Twin for Perishable Food Supply Chain</a:t>
            </a:r>
            <a:endParaRPr sz="4000">
              <a:solidFill>
                <a:srgbClr val="20124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905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Ayaan Khan BT22CSE001</a:t>
            </a:r>
            <a:endParaRPr sz="162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Arya Patil BT22CSE003</a:t>
            </a:r>
            <a:endParaRPr sz="162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Nihaal Badam BT22CSE004</a:t>
            </a:r>
            <a:endParaRPr sz="162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en" sz="1620">
                <a:latin typeface="Cambria"/>
                <a:ea typeface="Cambria"/>
                <a:cs typeface="Cambria"/>
                <a:sym typeface="Cambria"/>
              </a:rPr>
              <a:t>Swastik Ankulge BT22CSE013</a:t>
            </a:r>
            <a:endParaRPr sz="162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25" y="98350"/>
            <a:ext cx="1547725" cy="12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11700" y="4236150"/>
            <a:ext cx="547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Under the guidance of </a:t>
            </a:r>
            <a:r>
              <a:rPr b="1" lang="en" sz="18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Prof. R. B. Keskar</a:t>
            </a:r>
            <a:endParaRPr b="1" sz="18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Project Recap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Project: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Digital Twin for perishable food logistics, starting with oranges (extensible)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7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Problem: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 spoilage rates in the "last mile" due to poor monitoring and inflexible routing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Our Scope:</a:t>
            </a:r>
            <a:r>
              <a:rPr lang="en" sz="1000">
                <a:solidFill>
                  <a:schemeClr val="dk1"/>
                </a:solidFill>
              </a:rPr>
              <a:t> 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Warehouse → Retailer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Key challenges: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Vehicle Routing/ Re-routing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Real-time Monitoring (temp, humidity)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Spoilage Prediction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Dynamic Disruptions (traffic, accidents)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Core Thesis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ost DTs are passive dashboards. They show you a problem (ex: "This truck is too hot").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Our DT will be an autonomous control system. It will solve the problem.</a:t>
            </a:r>
            <a:endParaRPr b="1"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Loop: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Monitor (Simulated IoT):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"A truck is in a traffic jam, and its temperature is 2°C above optimal."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Predict (ML):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"At this rate, the oranges will lose 30% of their shelf life before reaching Retailer A."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Act (RL):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"Autonomously reroute the truck to Retailer B, who is closer and has immediate demand, preserving the batch's value."</a:t>
            </a:r>
            <a:endParaRPr b="1" sz="2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will model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supply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chain as a graph, a common framework for logistics DTs.  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Simple Visual Diagram: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Nodes: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Warehouse, Retailer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Edges: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Route (connecting nodes)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Agent: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ex-Freight (traverses the graph)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Entity: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OrangeBatch (the asset that moves through the system)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Extensibility:</a:t>
            </a:r>
            <a:r>
              <a:rPr lang="en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graph structure allows us to easily add new nodes (e.g., new warehouses, new freights) or agents without re-architecting the core model.</a:t>
            </a:r>
            <a:endParaRPr sz="1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System Architecture: Components &amp; Attributes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42603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" sz="11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will model the static supply chain as a graph, a common framework for logistics DTs.  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Simple Visual Diagram: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Nodes: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Warehouse, Retailer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Edges: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Route (connecting nodes)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Agent: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Freight (traverses the graph)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Entity: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OrangeBatch (the asset that moves through the system)</a:t>
            </a:r>
            <a:endParaRPr b="1" sz="19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017712"/>
            <a:ext cx="4224622" cy="40338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Extensible Data Model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meet the "extensible to other foods" requirement, we need a formal way to define relationships. We will adopt the W3C SOSA (Sensor, Observation, Sample, and Actuator)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Method 1: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Freight.temperature = 2.5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Method 2: SOSA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984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mbria"/>
              <a:buChar char="○"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sosa:Sensor (thermometer)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sosa:madeObservation (a reading)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sosa:FeatureOfInterest (the OrangeBatch)</a:t>
            </a:r>
            <a:endParaRPr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Why:</a:t>
            </a:r>
            <a:endParaRPr b="1"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 add Apples, we don't change the Freight or Sensor models.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simply create a new sosa:FeatureOfInterest called AppleBatch.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is makes it modular.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Datasets &amp; Modeling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Problem: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We don't have a real-world fleet of IoT sensors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Solution: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 Hybrid Data Strategy to create a realistic, accurate simulation/representation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Bootstrapping the Data: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Use public, static datasets to set the initial state of the simulation (ex: how much inventory does a warehouse start with initially, what rates does the warehouse receive oranges from the packhouses, etc.)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Generative Pattern Data: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Use public IoT datasets as a pattern for our simulation (ex: what does a real traffic jam look like? What are real truck temperature fluctuations?)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Generative Scientific Data: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Create our own high-value data (through spoilage function) using a validated scientific model</a:t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Datasets &amp; Modeling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47901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We will generate the Remaining Shelf Life (RSL) data stream based on physics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Model:</a:t>
            </a: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Arrhenius Equation: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This is a validated model from food science that calculates the rate of quality degradation as a function of temperature</a:t>
            </a:r>
            <a:endParaRPr baseline="30000" sz="2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 specific model for sweet orange degradation is:</a:t>
            </a:r>
            <a:b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Implementation: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AutoNum type="arabicPeriod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Our simulated FreightAgent Sensor would provide a T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AutoNum type="arabicPeriod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Arrhenius equation gives us the net the degradation rate k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AutoNum type="arabicPeriod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We update the OrangeBatch.current_RSL every simulation minute (or choose a time based on system capacity)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Result:</a:t>
            </a: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We create a high-frequency, scientifically-valid RSL data stream</a:t>
            </a:r>
            <a:endParaRPr sz="1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727" y="1152475"/>
            <a:ext cx="3730574" cy="389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94609" y="2631196"/>
            <a:ext cx="2024275" cy="3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207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779875"/>
            <a:ext cx="4260300" cy="42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SimPy: 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Simulation Engine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define agents as Python classes with generator methods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MQTT: 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IoT Data Broker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Agents publish data externally to this broker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Ex: FreightAgent has a monitor_cargo() process that through mqtt_client.publish() a JSON payload (ex: {'temp': 4.5, 'rsl': 98.2}) to a topic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MQTT over Kafka: lightweight, push-based, IoT-style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Telegraf: 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Data Pipeline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server-agent that listens to the MQTT broker and writes to the database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configure [[inputs.mqtt_consumer]] plugin 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subscribe to iot/freight/# topics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onfigure [[outputs.influxdb_v2]] plugin to automatically write that data into InfluxDB with tags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4572000" y="779875"/>
            <a:ext cx="4260300" cy="4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InfluxDB: 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Time-Series Database (Memory)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Digital Twin's database.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InfluxDB over Prometheus: push-based system, SimPy -&gt; MQTT -&gt; Telegraf push architecture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optimized for high-volume sensor data and event logging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Streamlit: 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Dashboard/Interface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interactive web app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use the InfluxDB client library to query the database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Ex: show me the last 1 hour of temperature for 'truck-01'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Streamlit over Plotly Dash: simplicity, faster prototyping for data-focused applications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Models: ML and RL System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Part 1: The Predictor (Machine Learning)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Goal: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Predict the RSL of an orange batch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Support Vector Regression (SVR)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Why: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Research specifically on 'Valencia' oranges found SVR was the most accurate model (</a:t>
            </a: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R²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score=0.884) using the exact features our simulation will generate: storage time, temperature, and humidity.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Part 2: The Decision-Maker (Reinforcement Learning)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Goal: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Solve the Dynamic Vehicle Routing Problem (DVRP)</a:t>
            </a:r>
            <a:endParaRPr baseline="30000"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Model: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Deep Q-Network (DQN)</a:t>
            </a:r>
            <a:endParaRPr baseline="30000" sz="21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How: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○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State: DQN agent's state Ex: current location, 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fuel, etc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○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Action: Ex: "Go to Retailer A," "Go to Retailer B," or "Wait."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○"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Reward: fast deliveries, high final RSL, heavily penalization for spoiled-batch deliveries, inefficient routing, etc.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Actors &amp; Agents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01772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to use Agent-Based Modeling to model the Actors in our system.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Agent: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is a Python class with process methods that simulate behavior over time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Core Agents: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9513" y="1743900"/>
            <a:ext cx="5404980" cy="339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Actors &amp; Agents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Concept: Event-Driven Architecture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Agents do not call each other directly.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Char char="●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They communicate indirectly by firing and listening for Events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 of flow:</a:t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AutoNum type="arabicPeriod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RetailerAgent's: low inventory 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fires ProductOrderedEvent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AutoNum type="arabicPeriod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WarehouseAgent (listening): catch event 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reserve FreightAgent 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fire ProductShippedEvent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AutoNum type="arabicPeriod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FreightAgent: catch this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starts its run_transport()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AutoNum type="arabicPeriod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SimulationEnv: fire a Disruption_Event (ex: traffic jam, accident)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AutoNum type="arabicPeriod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DQN_Control_Agent (listening): catch the event 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check FreightAgent's cargo RSL (from the Arrhenius model) 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decide if a new route is needed 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fire Reroute_Event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mbria"/>
              <a:buAutoNum type="arabicPeriod"/>
            </a:pP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FreightAgent: catch Reroute_Event </a:t>
            </a: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→ </a:t>
            </a:r>
            <a:r>
              <a:rPr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changes its destination/route accordingly</a:t>
            </a:r>
            <a:endParaRPr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Existing Implementation in Industries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AutoNum type="arabicPeriod"/>
            </a:pPr>
            <a:r>
              <a:rPr b="1"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Maersk (Cold Chain Monitoring):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virtual refrigerated cargo assistant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provides real-time data and visibility for in-transit reefer (refrigerated) containers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rgbClr val="5B0F00"/>
                </a:solidFill>
                <a:latin typeface="Cambria"/>
                <a:ea typeface="Cambria"/>
                <a:cs typeface="Cambria"/>
                <a:sym typeface="Cambria"/>
              </a:rPr>
              <a:t>prevent spoilage </a:t>
            </a: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on a global scale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AutoNum type="arabicPeriod"/>
            </a:pPr>
            <a:r>
              <a:rPr b="1"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Zomato/Swiggy (Perishable Routing):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Dynamic Vehicle Routing Problem (DVRP) for hot perishables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strict delivery window.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autonomously route drivers, balancing real-time traffic, weather, and variable restaurant prep times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AutoNum type="arabicPeriod"/>
            </a:pPr>
            <a:r>
              <a:rPr b="1"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Amul/Agropur (The Perishable Domain):</a:t>
            </a:r>
            <a:endParaRPr b="1"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Amul - India's largest dairy co-op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inefficient routes and lack of cold storage lead to spoilage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GIS to optimize collection routes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Agropur - a global dairy producer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111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mbria"/>
              <a:buChar char="●"/>
            </a:pPr>
            <a:r>
              <a:rPr lang="en" sz="13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Digital Twins to optimize their plant and engineering design</a:t>
            </a:r>
            <a:endParaRPr sz="13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167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Rough Timeline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0" name="Google Shape;14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488" y="740225"/>
            <a:ext cx="4693031" cy="440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Conclusion:</a:t>
            </a:r>
            <a:endParaRPr b="1" sz="14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From Passive Monitoring to Autonomous Control: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We successfully demonstrated a paradigm shift. Traditional digital twins are passive dashboards that only </a:t>
            </a: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show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you a problem (e.g., "This truck is too hot"). Our Digital Twin is an </a:t>
            </a: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autonomous control system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that </a:t>
            </a:r>
            <a:r>
              <a:rPr i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solves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problem.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Bridged the "Monitoring-to-Control" Gap: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Our core contribution is the integration of a </a:t>
            </a: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Deep Q-Network (DQN) agent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This "brain" analyzes real-time spoilage predictions and autonomously acts on them, creating a system that actively prevents spoilage, not just reports it.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Achieved High-Fidelity, Realistic Simulation: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We solved the "no real data" problem. By using a </a:t>
            </a: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hybrid data strategy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and implementing the scientific </a:t>
            </a: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Arrhenius equation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we created a high-frequency, scientifically-valid data stream for "Remaining Shelf Life" (RSL)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mbria"/>
              <a:buChar char="●"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Built a Technically Feasible &amp; Extensible Framework:</a:t>
            </a:r>
            <a:endParaRPr b="1"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Feasible: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Our lightweight stack (SimPy, MQTT, InfluxDB, Streamlit) proved capable of handling a complex, event-driven simulation.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lphaLcPeriod"/>
            </a:pP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Extensible: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By using the </a:t>
            </a:r>
            <a:r>
              <a:rPr b="1"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W3C SOSA ontology</a:t>
            </a: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our framework is not just for oranges. We can add new products like apples or even pharmaceuticals just by defining them as a new sosa:FeatureOfInterest without re-architecting the system.</a:t>
            </a:r>
            <a:endParaRPr sz="15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mbria"/>
                <a:ea typeface="Cambria"/>
                <a:cs typeface="Cambria"/>
                <a:sym typeface="Cambria"/>
              </a:rPr>
              <a:t>References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[1] S. H. Ahmad, R. Rosle, M. S. A. Rani, M. S. A. Bakar, and N. I. M. Z. Abidin, "The Shelf-life Prediction of Sweet Orange Based on Its Total Soluble Solid by Using </a:t>
            </a:r>
            <a:r>
              <a:rPr lang="en" sz="800">
                <a:solidFill>
                  <a:srgbClr val="85200C"/>
                </a:solidFill>
                <a:latin typeface="Cambria"/>
                <a:ea typeface="Cambria"/>
                <a:cs typeface="Cambria"/>
                <a:sym typeface="Cambria"/>
              </a:rPr>
              <a:t>Arrhenius 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and Q 10 Approach,"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IOP Conf. Series: Materials Science and Engineering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vol. 506, no. 1, 2019, Art. no. 012061.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[2] A. P. Moller - Maersk, "Captain Peter™," Maersk.com. Accessed: Nov. 3, 2025. [Online]. Available: https://www.maersk.com/digital-services/captain-peter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[3] A. Shukhla and F. Qasim, "Optimizing Delivery Time and Customer Satisfaction: A Data-Driven Analysis of </a:t>
            </a:r>
            <a:r>
              <a:rPr lang="en" sz="800">
                <a:solidFill>
                  <a:srgbClr val="85200C"/>
                </a:solidFill>
                <a:latin typeface="Cambria"/>
                <a:ea typeface="Cambria"/>
                <a:cs typeface="Cambria"/>
                <a:sym typeface="Cambria"/>
              </a:rPr>
              <a:t>Zomato's Logistics Operations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ijsrem.com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2024. Accessed: Nov. 3, 2025. [Online]. Available: https://www.google.com/search?q=https://ijsrem.com/download/optimizing-delivery-time-and-customer-satisfaction-a-data-driven-analysis-of-zomatos-logistics-operations/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[4] Y. Umamahesh, "Data Science Delights: How </a:t>
            </a:r>
            <a:r>
              <a:rPr lang="en" sz="800">
                <a:solidFill>
                  <a:srgbClr val="85200C"/>
                </a:solidFill>
                <a:latin typeface="Cambria"/>
                <a:ea typeface="Cambria"/>
                <a:cs typeface="Cambria"/>
                <a:sym typeface="Cambria"/>
              </a:rPr>
              <a:t>Swiggy and Zomato Revolutionize Food Delivery with Advanced Techniques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Medium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2024. Accessed: Nov. 3, 2025. [Online]. Available: https://www.google.com/search?q=https://medium.com/%40yenumamahesh/data-science-delights-how-swiggy-and-zomato-revolutionize-food-delivery-with-advanced-techniques-10776b6d8a43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[5] Prevu3D, "Agropur Engineering Design Case Study," Prevu3D.com. Accessed: Nov. 3, 2025. [Online]. Available: https://www.google.com/search?q=https://prevu3d.com/case-studies/agropur-engineering-design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[6] M. Singh, "Amul Logistics,"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SlideShare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2010. Accessed: Nov. 3, 2025. [Online]. Available: https://www.google.com/search?q=https://www.slideshare.net/manpalsingh/amul-logistics-5627705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[7] L. Wang, H. J. He, and D. Li, "Implementation of Digital Twins in the Food Supply Chain: A Review and Conceptual Framework,"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Foods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vol. 10, no. 5, 2021, Art. no. 936.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[8] M.-A. Elia-Valverde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et al.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"Evaluation of the Storage Performance of ‘Valencia’ Oranges and Generation of Shelf-Life Prediction Models,"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Foods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vol. 11, no. 8, 2022, Art. no. 1157.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[9] R. Liu, X. Yang, A. Li, H. Hu, Z. Wang, and H. Yao, "</a:t>
            </a:r>
            <a:r>
              <a:rPr lang="en" sz="800">
                <a:solidFill>
                  <a:srgbClr val="85200C"/>
                </a:solidFill>
                <a:latin typeface="Cambria"/>
                <a:ea typeface="Cambria"/>
                <a:cs typeface="Cambria"/>
                <a:sym typeface="Cambria"/>
              </a:rPr>
              <a:t>Deep reinforcement learning 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for the dynamic and uncertain vehicle routing problem," in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Proc. Int. Conf. Autom. Plann. Sched. (ICAPS)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2020, vol. 30, pp. 638-646.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[10] A. A. Lomonosov, N. A. Taratukhin, and D. A. Klyuchnikov, "A Theoretical Framework for Graph-based Digital Twins for Supply Chain Management and Optimization,"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ResearchGate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2024. Accessed: Nov. 3, 2025. [Online]. Available: https://www.google.com/search?q=https://www.researchgate.net/publication/377488092_A_Theoretical_Framework_for_Graph-based_Digital_Twins_for_Supply_Chain_Management_and_Optimization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[11] "SimPy: </a:t>
            </a:r>
            <a:r>
              <a:rPr lang="en" sz="800">
                <a:solidFill>
                  <a:srgbClr val="85200C"/>
                </a:solidFill>
                <a:latin typeface="Cambria"/>
                <a:ea typeface="Cambria"/>
                <a:cs typeface="Cambria"/>
                <a:sym typeface="Cambria"/>
              </a:rPr>
              <a:t>Discrete event simulation for Python,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SimPy ReadTheDocs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. Accessed: Nov. 3, 2025. [Online]. Available: https://simpy.readthedocs.io/en/latest/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[12] L. Sardois, "Handling IoT data with MQTT, Telegraf, InfluxDB and Grafana,"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Medium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2019. Accessed: Nov. 3, 2025. [Online]. Available: https://www.google.com/search?q=https://medium.com/%40luciensardois/handling-iot-data-with-mqtt-telegraf-influxdb-and-grafana-769d060e20fb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mbria"/>
              <a:buChar char="●"/>
            </a:pP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[13] W3C, "</a:t>
            </a:r>
            <a:r>
              <a:rPr lang="en" sz="800">
                <a:solidFill>
                  <a:srgbClr val="85200C"/>
                </a:solidFill>
                <a:latin typeface="Cambria"/>
                <a:ea typeface="Cambria"/>
                <a:cs typeface="Cambria"/>
                <a:sym typeface="Cambria"/>
              </a:rPr>
              <a:t>Semantic Sensor Network Ontology,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" </a:t>
            </a:r>
            <a:r>
              <a:rPr i="1"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W3C Recommendation</a:t>
            </a:r>
            <a:r>
              <a:rPr lang="en" sz="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, 2023. Accessed: Nov. 3, 2025. [Online]. Available: https://www.w3.org/TR/vocab-ssn/</a:t>
            </a:r>
            <a:endParaRPr sz="8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